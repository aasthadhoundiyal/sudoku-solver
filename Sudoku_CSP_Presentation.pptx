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respected professors and examiners. Today, we are presenting our project on solving Sudoku modeled as a Constraint Satisfaction Problem within Artificial Intelligence. We formulate the game under the standard CSP triplet framework, explore systematic backtracking search with branch pruning, and demonstrate an interactive implementation with real-time constraint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discuss why CSP is the ideal framework. A naive brute force approach on an empty 9x9 board faces an astronomical search space of 9 to the power of 81. Traditional path-based searches like Dijkstra or BFS are inefficient because the path to the solution is irrelevant. CSP solves this by focusing purely on constraint validation at every step, instantly pruning invalid search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Russell and Norvig AI formulation, any CSP is defined by Variables, Domains, and Constraints. In our project, Variables X are the 81 cells. Domains D are the digits 1 through 9. Constraints C are the three distinct AllDifferent relations: every row, every column, and each 3x3 subgrid must contain unique digits without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question in CSP exams is the constraint graph topology. Each of the 81 cells is a node connected to 20 neighbors: 8 in its row, 8 in its column, and 4 in its box. This gives exactly 810 binary constraint edges. This dense interconnectedness is why constraint checking is so powerful: assigning one value immediately reduces the legal choices in 20 peer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through the actual core solver code. Step 1 finds an unassigned cell. If none remain, the base case triggers and the puzzle is solved. Step 2 tests candidate digits 1 to 9 with canPlace. If valid, Step 3 tentatively assigns the digit and recurses. If down the line a dead-end occurs, it backtracks by resetting the cell to 0 and attempts the next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visually contrasts branch pruning with backtracking recovery. When a digit violates canPlace, that branch is pruned immediately. If down the line a variable finds all 9 digits invalid, a dead-end occurs. The recursive stack unwinds, resets the cell back to 0, and explores the next valid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examiners ask how the solver can be optimized, these are the four pillars of advanced CSP: MRV or Fail-First heuristic chooses the cell with the smallest domain; Degree heuristic breaks ties by picking the cell with the most unassigned neighbors; LCV chooses values that preserve options for peers; and AC-3 constraint propagation eliminates illegal domain values before search even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software engineering side, the solution is wrapped in a React and Vite web application. The core CSP solver is implemented as clean functional JavaScript, completely decoupled from the UI. The interface includes interactive cell selection, real-time constraint violation highlighting via findConflicts, and instant one-click automated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Regarding complexity: while a fixed 9x9 Sudoku has a finite upper bound, generalized N-squared by N-squared Sudoku is proven to be NP-Complete by reduction from Exact Cover. The space complexity is O(m) where m is the recursion depth bounded by 81. In practice, backtracking with constraint checking solves standard boards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bridges core AI theory and practical software engineering. We demonstrated how formulating Sudoku as a CSP makes an otherwise intractable search space easily solvable through intelligent constraint validation and backtracking. Thank you for your time, and I am now ready for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366F1"/>
          </a:solidFill>
          <a:ln w="12700">
            <a:solidFill>
              <a:srgbClr val="6366F1"/>
            </a:solidFill>
            <a:prstDash val="solid"/>
          </a:ln>
        </p:spPr>
      </p:sp>
      <p:sp>
        <p:nvSpPr>
          <p:cNvPr id="3" name="Text 1"/>
          <p:cNvSpPr/>
          <p:nvPr/>
        </p:nvSpPr>
        <p:spPr>
          <a:xfrm>
            <a:off x="914400" y="1097280"/>
            <a:ext cx="10360152" cy="320040"/>
          </a:xfrm>
          <a:prstGeom prst="rect">
            <a:avLst/>
          </a:prstGeom>
          <a:noFill/>
          <a:ln/>
        </p:spPr>
        <p:txBody>
          <a:bodyPr wrap="square" rtlCol="0" anchor="ctr"/>
          <a:lstStyle/>
          <a:p>
            <a:pPr indent="0" marL="0">
              <a:buNone/>
            </a:pPr>
            <a:r>
              <a:rPr lang="en-US" sz="1300" b="1" spc="200" kern="0" dirty="0">
                <a:solidFill>
                  <a:srgbClr val="38BDF8"/>
                </a:solidFill>
                <a:latin typeface="Calibri" pitchFamily="34" charset="0"/>
                <a:ea typeface="Calibri" pitchFamily="34" charset="-122"/>
                <a:cs typeface="Calibri" pitchFamily="34" charset="-120"/>
              </a:rPr>
              <a:t>ARTIFICIAL INTELLIGENCE &amp; SOFT COMPUTING</a:t>
            </a:r>
            <a:endParaRPr lang="en-US" sz="1300" dirty="0"/>
          </a:p>
        </p:txBody>
      </p:sp>
      <p:sp>
        <p:nvSpPr>
          <p:cNvPr id="4" name="Text 2"/>
          <p:cNvSpPr/>
          <p:nvPr/>
        </p:nvSpPr>
        <p:spPr>
          <a:xfrm>
            <a:off x="914400" y="1508760"/>
            <a:ext cx="10360152" cy="12801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Sudoku Solver Using Constraint Satisfaction Problem (CSP)</a:t>
            </a:r>
            <a:endParaRPr lang="en-US" sz="3200" dirty="0"/>
          </a:p>
        </p:txBody>
      </p:sp>
      <p:sp>
        <p:nvSpPr>
          <p:cNvPr id="5" name="Text 3"/>
          <p:cNvSpPr/>
          <p:nvPr/>
        </p:nvSpPr>
        <p:spPr>
          <a:xfrm>
            <a:off x="914400" y="2926080"/>
            <a:ext cx="10360152" cy="411480"/>
          </a:xfrm>
          <a:prstGeom prst="rect">
            <a:avLst/>
          </a:prstGeom>
          <a:noFill/>
          <a:ln/>
        </p:spPr>
        <p:txBody>
          <a:bodyPr wrap="square" rtlCol="0" anchor="ctr"/>
          <a:lstStyle/>
          <a:p>
            <a:pPr indent="0" marL="0">
              <a:buNone/>
            </a:pPr>
            <a:r>
              <a:rPr lang="en-US" sz="1700" dirty="0">
                <a:solidFill>
                  <a:srgbClr val="94A3B8"/>
                </a:solidFill>
                <a:latin typeface="Calibri" pitchFamily="34" charset="0"/>
                <a:ea typeface="Calibri" pitchFamily="34" charset="-122"/>
                <a:cs typeface="Calibri" pitchFamily="34" charset="-120"/>
              </a:rPr>
              <a:t>Modeling, State-Space Search, Backtracking, and Heuristics</a:t>
            </a:r>
            <a:endParaRPr lang="en-US" sz="1700" dirty="0"/>
          </a:p>
        </p:txBody>
      </p:sp>
      <p:sp>
        <p:nvSpPr>
          <p:cNvPr id="6" name="Shape 4"/>
          <p:cNvSpPr/>
          <p:nvPr/>
        </p:nvSpPr>
        <p:spPr>
          <a:xfrm>
            <a:off x="914400" y="3749040"/>
            <a:ext cx="10360152" cy="2286000"/>
          </a:xfrm>
          <a:prstGeom prst="roundRect">
            <a:avLst>
              <a:gd name="adj" fmla="val 4000"/>
            </a:avLst>
          </a:prstGeom>
          <a:solidFill>
            <a:srgbClr val="1E293B"/>
          </a:solidFill>
          <a:ln w="12700">
            <a:solidFill>
              <a:srgbClr val="334155"/>
            </a:solidFill>
            <a:prstDash val="solid"/>
          </a:ln>
        </p:spPr>
      </p:sp>
      <p:sp>
        <p:nvSpPr>
          <p:cNvPr id="7" name="Text 5"/>
          <p:cNvSpPr/>
          <p:nvPr/>
        </p:nvSpPr>
        <p:spPr>
          <a:xfrm>
            <a:off x="1188720" y="3977640"/>
            <a:ext cx="9784080" cy="18288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Authors / Presenters: </a:t>
            </a:r>
            <a:pPr indent="0" marL="0">
              <a:buNone/>
            </a:pPr>
            <a:r>
              <a:rPr lang="en-US" sz="1350" b="1" dirty="0">
                <a:solidFill>
                  <a:srgbClr val="38BDF8"/>
                </a:solidFill>
                <a:latin typeface="Calibri" pitchFamily="34" charset="0"/>
                <a:ea typeface="Calibri" pitchFamily="34" charset="-122"/>
                <a:cs typeface="Calibri" pitchFamily="34" charset="-120"/>
              </a:rPr>
              <a:t>Aastha Dhoundiyal  •  Vedant Misra
</a:t>
            </a:r>
            <a:pPr indent="0" marL="0">
              <a:buNone/>
            </a:pPr>
            <a:r>
              <a:rPr lang="en-US" sz="1350" b="1" dirty="0">
                <a:solidFill>
                  <a:srgbClr val="FFFFFF"/>
                </a:solidFill>
                <a:latin typeface="Calibri" pitchFamily="34" charset="0"/>
                <a:ea typeface="Calibri" pitchFamily="34" charset="-122"/>
                <a:cs typeface="Calibri" pitchFamily="34" charset="-120"/>
              </a:rPr>
              <a:t>Core AI Paradigms: </a:t>
            </a:r>
            <a:pPr indent="0" marL="0">
              <a:buNone/>
            </a:pPr>
            <a:r>
              <a:rPr lang="en-US" sz="1350" dirty="0">
                <a:solidFill>
                  <a:srgbClr val="94A3B8"/>
                </a:solidFill>
                <a:latin typeface="Calibri" pitchFamily="34" charset="0"/>
                <a:ea typeface="Calibri" pitchFamily="34" charset="-122"/>
                <a:cs typeface="Calibri" pitchFamily="34" charset="-120"/>
              </a:rPr>
              <a:t>Constraint Satisfaction Problems (CSP) • State-Space Representation • Depth-First Search with Backtracking
</a:t>
            </a:r>
            <a:pPr indent="0" marL="0">
              <a:buNone/>
            </a:pPr>
            <a:r>
              <a:rPr lang="en-US" sz="1350" b="1" dirty="0">
                <a:solidFill>
                  <a:srgbClr val="FFFFFF"/>
                </a:solidFill>
                <a:latin typeface="Calibri" pitchFamily="34" charset="0"/>
                <a:ea typeface="Calibri" pitchFamily="34" charset="-122"/>
                <a:cs typeface="Calibri" pitchFamily="34" charset="-120"/>
              </a:rPr>
              <a:t>Interactive Web Engine: </a:t>
            </a:r>
            <a:pPr indent="0" marL="0">
              <a:buNone/>
            </a:pPr>
            <a:r>
              <a:rPr lang="en-US" sz="1350" dirty="0">
                <a:solidFill>
                  <a:srgbClr val="94A3B8"/>
                </a:solidFill>
                <a:latin typeface="Calibri" pitchFamily="34" charset="0"/>
                <a:ea typeface="Calibri" pitchFamily="34" charset="-122"/>
                <a:cs typeface="Calibri" pitchFamily="34" charset="-120"/>
              </a:rPr>
              <a:t>React + Vite UI with Real-Time Conflict Detection and Verification</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OVERVIEW &amp; PROBLEM STATEMENT</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Constraint Satisfaction for Sudoku?</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5212080" cy="4754880"/>
          </a:xfrm>
          <a:prstGeom prst="roundRect">
            <a:avLst>
              <a:gd name="adj" fmla="val 1923"/>
            </a:avLst>
          </a:prstGeom>
          <a:solidFill>
            <a:srgbClr val="1E293B"/>
          </a:solidFill>
          <a:ln w="12700">
            <a:solidFill>
              <a:srgbClr val="334155"/>
            </a:solidFill>
            <a:prstDash val="solid"/>
          </a:ln>
        </p:spPr>
      </p:sp>
      <p:sp>
        <p:nvSpPr>
          <p:cNvPr id="6" name="Text 4"/>
          <p:cNvSpPr/>
          <p:nvPr/>
        </p:nvSpPr>
        <p:spPr>
          <a:xfrm>
            <a:off x="1005840" y="1737360"/>
            <a:ext cx="4663440" cy="365760"/>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The Challenge of Brute Force Search</a:t>
            </a:r>
            <a:endParaRPr lang="en-US" sz="1600" dirty="0"/>
          </a:p>
        </p:txBody>
      </p:sp>
      <p:sp>
        <p:nvSpPr>
          <p:cNvPr id="7" name="Text 5"/>
          <p:cNvSpPr/>
          <p:nvPr/>
        </p:nvSpPr>
        <p:spPr>
          <a:xfrm>
            <a:off x="1005840" y="2240280"/>
            <a:ext cx="4663440" cy="3749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Intractable State Space: </a:t>
            </a:r>
            <a:pPr indent="0" marL="0">
              <a:buNone/>
            </a:pPr>
            <a:r>
              <a:rPr lang="en-US" sz="1300" dirty="0">
                <a:solidFill>
                  <a:srgbClr val="94A3B8"/>
                </a:solidFill>
                <a:latin typeface="Calibri" pitchFamily="34" charset="0"/>
                <a:ea typeface="Calibri" pitchFamily="34" charset="-122"/>
                <a:cs typeface="Calibri" pitchFamily="34" charset="-120"/>
              </a:rPr>
              <a:t>A blank 9x9 grid has 81 cells, producing 9^81 (~1.96 × 10^77) possible configurations.
</a:t>
            </a:r>
            <a:pPr indent="0" marL="0">
              <a:buNone/>
            </a:pPr>
            <a:r>
              <a:rPr lang="en-US" sz="1300" b="1" dirty="0">
                <a:solidFill>
                  <a:srgbClr val="FFFFFF"/>
                </a:solidFill>
                <a:latin typeface="Calibri" pitchFamily="34" charset="0"/>
                <a:ea typeface="Calibri" pitchFamily="34" charset="-122"/>
                <a:cs typeface="Calibri" pitchFamily="34" charset="-120"/>
              </a:rPr>
              <a:t>• Uninformed Search Fails: </a:t>
            </a:r>
            <a:pPr indent="0" marL="0">
              <a:buNone/>
            </a:pPr>
            <a:r>
              <a:rPr lang="en-US" sz="1300" dirty="0">
                <a:solidFill>
                  <a:srgbClr val="94A3B8"/>
                </a:solidFill>
                <a:latin typeface="Calibri" pitchFamily="34" charset="0"/>
                <a:ea typeface="Calibri" pitchFamily="34" charset="-122"/>
                <a:cs typeface="Calibri" pitchFamily="34" charset="-120"/>
              </a:rPr>
              <a:t>Standard BFS or DFS without domain rules will blindly explore dead paths, hitting exponential explosion.
</a:t>
            </a:r>
            <a:pPr indent="0" marL="0">
              <a:buNone/>
            </a:pPr>
            <a:r>
              <a:rPr lang="en-US" sz="1300" b="1" dirty="0">
                <a:solidFill>
                  <a:srgbClr val="FFFFFF"/>
                </a:solidFill>
                <a:latin typeface="Calibri" pitchFamily="34" charset="0"/>
                <a:ea typeface="Calibri" pitchFamily="34" charset="-122"/>
                <a:cs typeface="Calibri" pitchFamily="34" charset="-120"/>
              </a:rPr>
              <a:t>• Path-Agnostic Goal: </a:t>
            </a:r>
            <a:pPr indent="0" marL="0">
              <a:buNone/>
            </a:pPr>
            <a:r>
              <a:rPr lang="en-US" sz="1300" dirty="0">
                <a:solidFill>
                  <a:srgbClr val="94A3B8"/>
                </a:solidFill>
                <a:latin typeface="Calibri" pitchFamily="34" charset="0"/>
                <a:ea typeface="Calibri" pitchFamily="34" charset="-122"/>
                <a:cs typeface="Calibri" pitchFamily="34" charset="-120"/>
              </a:rPr>
              <a:t>In puzzle solving, the sequence of assignments does not matter; only the consistency of the final state matters.</a:t>
            </a:r>
            <a:endParaRPr lang="en-US" sz="1300" dirty="0"/>
          </a:p>
        </p:txBody>
      </p:sp>
      <p:sp>
        <p:nvSpPr>
          <p:cNvPr id="8" name="Shape 6"/>
          <p:cNvSpPr/>
          <p:nvPr/>
        </p:nvSpPr>
        <p:spPr>
          <a:xfrm>
            <a:off x="6245352" y="1508760"/>
            <a:ext cx="5212080" cy="4754880"/>
          </a:xfrm>
          <a:prstGeom prst="roundRect">
            <a:avLst>
              <a:gd name="adj" fmla="val 1923"/>
            </a:avLst>
          </a:prstGeom>
          <a:solidFill>
            <a:srgbClr val="1E293B"/>
          </a:solidFill>
          <a:ln w="12700">
            <a:solidFill>
              <a:srgbClr val="334155"/>
            </a:solidFill>
            <a:prstDash val="solid"/>
          </a:ln>
        </p:spPr>
      </p:sp>
      <p:sp>
        <p:nvSpPr>
          <p:cNvPr id="9" name="Text 7"/>
          <p:cNvSpPr/>
          <p:nvPr/>
        </p:nvSpPr>
        <p:spPr>
          <a:xfrm>
            <a:off x="6519672" y="1737360"/>
            <a:ext cx="4663440" cy="365760"/>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The CSP Intelligence Advantage</a:t>
            </a:r>
            <a:endParaRPr lang="en-US" sz="1600" dirty="0"/>
          </a:p>
        </p:txBody>
      </p:sp>
      <p:sp>
        <p:nvSpPr>
          <p:cNvPr id="10" name="Text 8"/>
          <p:cNvSpPr/>
          <p:nvPr/>
        </p:nvSpPr>
        <p:spPr>
          <a:xfrm>
            <a:off x="6519672" y="2240280"/>
            <a:ext cx="4663440" cy="3749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Domain-Specific Pruning: </a:t>
            </a:r>
            <a:pPr indent="0" marL="0">
              <a:buNone/>
            </a:pPr>
            <a:r>
              <a:rPr lang="en-US" sz="1300" dirty="0">
                <a:solidFill>
                  <a:srgbClr val="94A3B8"/>
                </a:solidFill>
                <a:latin typeface="Calibri" pitchFamily="34" charset="0"/>
                <a:ea typeface="Calibri" pitchFamily="34" charset="-122"/>
                <a:cs typeface="Calibri" pitchFamily="34" charset="-120"/>
              </a:rPr>
              <a:t>CSP tests constraints at each step, immediately cutting off invalid subtrees before expanding deeper.
</a:t>
            </a:r>
            <a:pPr indent="0" marL="0">
              <a:buNone/>
            </a:pPr>
            <a:r>
              <a:rPr lang="en-US" sz="1300" b="1" dirty="0">
                <a:solidFill>
                  <a:srgbClr val="FFFFFF"/>
                </a:solidFill>
                <a:latin typeface="Calibri" pitchFamily="34" charset="0"/>
                <a:ea typeface="Calibri" pitchFamily="34" charset="-122"/>
                <a:cs typeface="Calibri" pitchFamily="34" charset="-120"/>
              </a:rPr>
              <a:t>• Natural Formulation: </a:t>
            </a:r>
            <a:pPr indent="0" marL="0">
              <a:buNone/>
            </a:pPr>
            <a:r>
              <a:rPr lang="en-US" sz="1300" dirty="0">
                <a:solidFill>
                  <a:srgbClr val="94A3B8"/>
                </a:solidFill>
                <a:latin typeface="Calibri" pitchFamily="34" charset="0"/>
                <a:ea typeface="Calibri" pitchFamily="34" charset="-122"/>
                <a:cs typeface="Calibri" pitchFamily="34" charset="-120"/>
              </a:rPr>
              <a:t>Matches human problem-solving by maintaining legal candidate numbers per cell and enforcing rules.
</a:t>
            </a:r>
            <a:pPr indent="0" marL="0">
              <a:buNone/>
            </a:pPr>
            <a:r>
              <a:rPr lang="en-US" sz="1300" b="1" dirty="0">
                <a:solidFill>
                  <a:srgbClr val="FFFFFF"/>
                </a:solidFill>
                <a:latin typeface="Calibri" pitchFamily="34" charset="0"/>
                <a:ea typeface="Calibri" pitchFamily="34" charset="-122"/>
                <a:cs typeface="Calibri" pitchFamily="34" charset="-120"/>
              </a:rPr>
              <a:t>• Extreme Efficiency: </a:t>
            </a:r>
            <a:pPr indent="0" marL="0">
              <a:buNone/>
            </a:pPr>
            <a:r>
              <a:rPr lang="en-US" sz="1300" dirty="0">
                <a:solidFill>
                  <a:srgbClr val="94A3B8"/>
                </a:solidFill>
                <a:latin typeface="Calibri" pitchFamily="34" charset="0"/>
                <a:ea typeface="Calibri" pitchFamily="34" charset="-122"/>
                <a:cs typeface="Calibri" pitchFamily="34" charset="-120"/>
              </a:rPr>
              <a:t>Reduces search time from astronomical timescales to a few milliseconds for typical 9x9 puzzles.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THEORETICAL FRAMEWORK</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Formal CSP Formulation: &lt;X, D, C&gt;</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3337560" cy="4754880"/>
          </a:xfrm>
          <a:prstGeom prst="roundRect">
            <a:avLst>
              <a:gd name="adj" fmla="val 2740"/>
            </a:avLst>
          </a:prstGeom>
          <a:solidFill>
            <a:srgbClr val="1E293B"/>
          </a:solidFill>
          <a:ln w="12700">
            <a:solidFill>
              <a:srgbClr val="334155"/>
            </a:solidFill>
            <a:prstDash val="solid"/>
          </a:ln>
        </p:spPr>
      </p:sp>
      <p:sp>
        <p:nvSpPr>
          <p:cNvPr id="6" name="Text 4"/>
          <p:cNvSpPr/>
          <p:nvPr/>
        </p:nvSpPr>
        <p:spPr>
          <a:xfrm>
            <a:off x="914400" y="1737360"/>
            <a:ext cx="2971800" cy="320040"/>
          </a:xfrm>
          <a:prstGeom prst="rect">
            <a:avLst/>
          </a:prstGeom>
          <a:noFill/>
          <a:ln/>
        </p:spPr>
        <p:txBody>
          <a:bodyPr wrap="square"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Variables (X)</a:t>
            </a:r>
            <a:endParaRPr lang="en-US" sz="1600" dirty="0"/>
          </a:p>
        </p:txBody>
      </p:sp>
      <p:sp>
        <p:nvSpPr>
          <p:cNvPr id="7" name="Text 5"/>
          <p:cNvSpPr/>
          <p:nvPr/>
        </p:nvSpPr>
        <p:spPr>
          <a:xfrm>
            <a:off x="914400" y="2240280"/>
            <a:ext cx="2971800" cy="3749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81 Distinct Variables
</a:t>
            </a:r>
            <a:pPr indent="0" marL="0">
              <a:buNone/>
            </a:pPr>
            <a:r>
              <a:rPr lang="en-US" sz="1250" dirty="0">
                <a:solidFill>
                  <a:srgbClr val="38BDF8"/>
                </a:solidFill>
                <a:latin typeface="Calibri" pitchFamily="34" charset="0"/>
                <a:ea typeface="Calibri" pitchFamily="34" charset="-122"/>
                <a:cs typeface="Calibri" pitchFamily="34" charset="-120"/>
              </a:rPr>
              <a:t>X = { X_r,c | 0 ≤ r &lt; 9, 0 ≤ c &lt; 9 }
</a:t>
            </a:r>
            <a:pPr indent="0" marL="0">
              <a:buNone/>
            </a:pPr>
            <a:r>
              <a:rPr lang="en-US" sz="1250" dirty="0">
                <a:solidFill>
                  <a:srgbClr val="94A3B8"/>
                </a:solidFill>
                <a:latin typeface="Calibri" pitchFamily="34" charset="0"/>
                <a:ea typeface="Calibri" pitchFamily="34" charset="-122"/>
                <a:cs typeface="Calibri" pitchFamily="34" charset="-120"/>
              </a:rPr>
              <a:t>Each variable X_r,c represents the value assigned to the cell at row r and column c.
</a:t>
            </a:r>
            <a:pPr indent="0" marL="0">
              <a:buNone/>
            </a:pPr>
            <a:r>
              <a:rPr lang="en-US" sz="1250" b="1" dirty="0">
                <a:solidFill>
                  <a:srgbClr val="FFFFFF"/>
                </a:solidFill>
                <a:latin typeface="Calibri" pitchFamily="34" charset="0"/>
                <a:ea typeface="Calibri" pitchFamily="34" charset="-122"/>
                <a:cs typeface="Calibri" pitchFamily="34" charset="-120"/>
              </a:rPr>
              <a:t>• Clue cells: </a:t>
            </a:r>
            <a:pPr indent="0" marL="0">
              <a:buNone/>
            </a:pPr>
            <a:r>
              <a:rPr lang="en-US" sz="1250" dirty="0">
                <a:solidFill>
                  <a:srgbClr val="94A3B8"/>
                </a:solidFill>
                <a:latin typeface="Calibri" pitchFamily="34" charset="0"/>
                <a:ea typeface="Calibri" pitchFamily="34" charset="-122"/>
                <a:cs typeface="Calibri" pitchFamily="34" charset="-120"/>
              </a:rPr>
              <a:t>Pre-assigned values.
</a:t>
            </a:r>
            <a:pPr indent="0" marL="0">
              <a:buNone/>
            </a:pPr>
            <a:r>
              <a:rPr lang="en-US" sz="1250" b="1" dirty="0">
                <a:solidFill>
                  <a:srgbClr val="FFFFFF"/>
                </a:solidFill>
                <a:latin typeface="Calibri" pitchFamily="34" charset="0"/>
                <a:ea typeface="Calibri" pitchFamily="34" charset="-122"/>
                <a:cs typeface="Calibri" pitchFamily="34" charset="-120"/>
              </a:rPr>
              <a:t>• Empty cells: </a:t>
            </a:r>
            <a:pPr indent="0" marL="0">
              <a:buNone/>
            </a:pPr>
            <a:r>
              <a:rPr lang="en-US" sz="1250" dirty="0">
                <a:solidFill>
                  <a:srgbClr val="94A3B8"/>
                </a:solidFill>
                <a:latin typeface="Calibri" pitchFamily="34" charset="0"/>
                <a:ea typeface="Calibri" pitchFamily="34" charset="-122"/>
                <a:cs typeface="Calibri" pitchFamily="34" charset="-120"/>
              </a:rPr>
              <a:t>Variables waiting for consistent assignment.</a:t>
            </a:r>
            <a:endParaRPr lang="en-US" sz="1250" dirty="0"/>
          </a:p>
        </p:txBody>
      </p:sp>
      <p:sp>
        <p:nvSpPr>
          <p:cNvPr id="8" name="Shape 6"/>
          <p:cNvSpPr/>
          <p:nvPr/>
        </p:nvSpPr>
        <p:spPr>
          <a:xfrm>
            <a:off x="4425696" y="1508760"/>
            <a:ext cx="3337560" cy="4754880"/>
          </a:xfrm>
          <a:prstGeom prst="roundRect">
            <a:avLst>
              <a:gd name="adj" fmla="val 2740"/>
            </a:avLst>
          </a:prstGeom>
          <a:solidFill>
            <a:srgbClr val="1E293B"/>
          </a:solidFill>
          <a:ln w="12700">
            <a:solidFill>
              <a:srgbClr val="334155"/>
            </a:solidFill>
            <a:prstDash val="solid"/>
          </a:ln>
        </p:spPr>
      </p:sp>
      <p:sp>
        <p:nvSpPr>
          <p:cNvPr id="9" name="Text 7"/>
          <p:cNvSpPr/>
          <p:nvPr/>
        </p:nvSpPr>
        <p:spPr>
          <a:xfrm>
            <a:off x="4608576" y="1737360"/>
            <a:ext cx="2971800" cy="320040"/>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Domains (D)</a:t>
            </a:r>
            <a:endParaRPr lang="en-US" sz="1600" dirty="0"/>
          </a:p>
        </p:txBody>
      </p:sp>
      <p:sp>
        <p:nvSpPr>
          <p:cNvPr id="10" name="Text 8"/>
          <p:cNvSpPr/>
          <p:nvPr/>
        </p:nvSpPr>
        <p:spPr>
          <a:xfrm>
            <a:off x="4608576" y="2240280"/>
            <a:ext cx="2971800" cy="3749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Permissible Values
</a:t>
            </a:r>
            <a:pPr indent="0" marL="0">
              <a:buNone/>
            </a:pPr>
            <a:r>
              <a:rPr lang="en-US" sz="1250" dirty="0">
                <a:solidFill>
                  <a:srgbClr val="10B981"/>
                </a:solidFill>
                <a:latin typeface="Calibri" pitchFamily="34" charset="0"/>
                <a:ea typeface="Calibri" pitchFamily="34" charset="-122"/>
                <a:cs typeface="Calibri" pitchFamily="34" charset="-120"/>
              </a:rPr>
              <a:t>D_r,c ⊆ { 1, 2, 3, 4, 5, 6, 7, 8, 9 }
</a:t>
            </a:r>
            <a:pPr indent="0" marL="0">
              <a:buNone/>
            </a:pPr>
            <a:r>
              <a:rPr lang="en-US" sz="1250" b="1" dirty="0">
                <a:solidFill>
                  <a:srgbClr val="FFFFFF"/>
                </a:solidFill>
                <a:latin typeface="Calibri" pitchFamily="34" charset="0"/>
                <a:ea typeface="Calibri" pitchFamily="34" charset="-122"/>
                <a:cs typeface="Calibri" pitchFamily="34" charset="-120"/>
              </a:rPr>
              <a:t>• For empty cells: </a:t>
            </a:r>
            <a:pPr indent="0" marL="0">
              <a:buNone/>
            </a:pPr>
            <a:r>
              <a:rPr lang="en-US" sz="1250" dirty="0">
                <a:solidFill>
                  <a:srgbClr val="94A3B8"/>
                </a:solidFill>
                <a:latin typeface="Calibri" pitchFamily="34" charset="0"/>
                <a:ea typeface="Calibri" pitchFamily="34" charset="-122"/>
                <a:cs typeface="Calibri" pitchFamily="34" charset="-120"/>
              </a:rPr>
              <a:t>D_r,c = { 1..9 } initially.
</a:t>
            </a:r>
            <a:pPr indent="0" marL="0">
              <a:buNone/>
            </a:pPr>
            <a:r>
              <a:rPr lang="en-US" sz="1250" b="1" dirty="0">
                <a:solidFill>
                  <a:srgbClr val="FFFFFF"/>
                </a:solidFill>
                <a:latin typeface="Calibri" pitchFamily="34" charset="0"/>
                <a:ea typeface="Calibri" pitchFamily="34" charset="-122"/>
                <a:cs typeface="Calibri" pitchFamily="34" charset="-120"/>
              </a:rPr>
              <a:t>• For clue cells: </a:t>
            </a:r>
            <a:pPr indent="0" marL="0">
              <a:buNone/>
            </a:pPr>
            <a:r>
              <a:rPr lang="en-US" sz="1250" dirty="0">
                <a:solidFill>
                  <a:srgbClr val="94A3B8"/>
                </a:solidFill>
                <a:latin typeface="Calibri" pitchFamily="34" charset="0"/>
                <a:ea typeface="Calibri" pitchFamily="34" charset="-122"/>
                <a:cs typeface="Calibri" pitchFamily="34" charset="-120"/>
              </a:rPr>
              <a:t>Singleton domain D_r,c = { v }, where v is the given clue.
</a:t>
            </a:r>
            <a:pPr indent="0" marL="0">
              <a:buNone/>
            </a:pPr>
            <a:r>
              <a:rPr lang="en-US" sz="1250" b="1" dirty="0">
                <a:solidFill>
                  <a:srgbClr val="FFFFFF"/>
                </a:solidFill>
                <a:latin typeface="Calibri" pitchFamily="34" charset="0"/>
                <a:ea typeface="Calibri" pitchFamily="34" charset="-122"/>
                <a:cs typeface="Calibri" pitchFamily="34" charset="-120"/>
              </a:rPr>
              <a:t>• Domain reduction: </a:t>
            </a:r>
            <a:pPr indent="0" marL="0">
              <a:buNone/>
            </a:pPr>
            <a:r>
              <a:rPr lang="en-US" sz="1250" dirty="0">
                <a:solidFill>
                  <a:srgbClr val="94A3B8"/>
                </a:solidFill>
                <a:latin typeface="Calibri" pitchFamily="34" charset="0"/>
                <a:ea typeface="Calibri" pitchFamily="34" charset="-122"/>
                <a:cs typeface="Calibri" pitchFamily="34" charset="-120"/>
              </a:rPr>
              <a:t>Neighbor assignments eliminate invalid numbers.</a:t>
            </a:r>
            <a:endParaRPr lang="en-US" sz="1250" dirty="0"/>
          </a:p>
        </p:txBody>
      </p:sp>
      <p:sp>
        <p:nvSpPr>
          <p:cNvPr id="11" name="Shape 9"/>
          <p:cNvSpPr/>
          <p:nvPr/>
        </p:nvSpPr>
        <p:spPr>
          <a:xfrm>
            <a:off x="8119872" y="1508760"/>
            <a:ext cx="3337560" cy="4754880"/>
          </a:xfrm>
          <a:prstGeom prst="roundRect">
            <a:avLst>
              <a:gd name="adj" fmla="val 2740"/>
            </a:avLst>
          </a:prstGeom>
          <a:solidFill>
            <a:srgbClr val="1E293B"/>
          </a:solidFill>
          <a:ln w="12700">
            <a:solidFill>
              <a:srgbClr val="334155"/>
            </a:solidFill>
            <a:prstDash val="solid"/>
          </a:ln>
        </p:spPr>
      </p:sp>
      <p:sp>
        <p:nvSpPr>
          <p:cNvPr id="12" name="Text 10"/>
          <p:cNvSpPr/>
          <p:nvPr/>
        </p:nvSpPr>
        <p:spPr>
          <a:xfrm>
            <a:off x="8302752" y="1737360"/>
            <a:ext cx="2971800" cy="320040"/>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Constraints (C)</a:t>
            </a:r>
            <a:endParaRPr lang="en-US" sz="1600" dirty="0"/>
          </a:p>
        </p:txBody>
      </p:sp>
      <p:sp>
        <p:nvSpPr>
          <p:cNvPr id="13" name="Text 11"/>
          <p:cNvSpPr/>
          <p:nvPr/>
        </p:nvSpPr>
        <p:spPr>
          <a:xfrm>
            <a:off x="8302752" y="2240280"/>
            <a:ext cx="2971800" cy="3749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AllDifferent Constraints
</a:t>
            </a:r>
            <a:pPr indent="0" marL="0">
              <a:buNone/>
            </a:pPr>
            <a:r>
              <a:rPr lang="en-US" sz="1250" dirty="0">
                <a:solidFill>
                  <a:srgbClr val="F59E0B"/>
                </a:solidFill>
                <a:latin typeface="Calibri" pitchFamily="34" charset="0"/>
                <a:ea typeface="Calibri" pitchFamily="34" charset="-122"/>
                <a:cs typeface="Calibri" pitchFamily="34" charset="-120"/>
              </a:rPr>
              <a:t>Three global constraints:
</a:t>
            </a:r>
            <a:pPr indent="0" marL="0">
              <a:buNone/>
            </a:pPr>
            <a:r>
              <a:rPr lang="en-US" sz="1250" b="1" dirty="0">
                <a:solidFill>
                  <a:srgbClr val="FFFFFF"/>
                </a:solidFill>
                <a:latin typeface="Calibri" pitchFamily="34" charset="0"/>
                <a:ea typeface="Calibri" pitchFamily="34" charset="-122"/>
                <a:cs typeface="Calibri" pitchFamily="34" charset="-120"/>
              </a:rPr>
              <a:t>1. Row Constraint: </a:t>
            </a:r>
            <a:pPr indent="0" marL="0">
              <a:buNone/>
            </a:pPr>
            <a:r>
              <a:rPr lang="en-US" sz="1250" dirty="0">
                <a:solidFill>
                  <a:srgbClr val="94A3B8"/>
                </a:solidFill>
                <a:latin typeface="Calibri" pitchFamily="34" charset="0"/>
                <a:ea typeface="Calibri" pitchFamily="34" charset="-122"/>
                <a:cs typeface="Calibri" pitchFamily="34" charset="-120"/>
              </a:rPr>
              <a:t>AllDiff(X_r,0 ... X_r,8)
</a:t>
            </a:r>
            <a:pPr indent="0" marL="0">
              <a:buNone/>
            </a:pPr>
            <a:r>
              <a:rPr lang="en-US" sz="1250" b="1" dirty="0">
                <a:solidFill>
                  <a:srgbClr val="FFFFFF"/>
                </a:solidFill>
                <a:latin typeface="Calibri" pitchFamily="34" charset="0"/>
                <a:ea typeface="Calibri" pitchFamily="34" charset="-122"/>
                <a:cs typeface="Calibri" pitchFamily="34" charset="-120"/>
              </a:rPr>
              <a:t>2. Column Constraint: </a:t>
            </a:r>
            <a:pPr indent="0" marL="0">
              <a:buNone/>
            </a:pPr>
            <a:r>
              <a:rPr lang="en-US" sz="1250" dirty="0">
                <a:solidFill>
                  <a:srgbClr val="94A3B8"/>
                </a:solidFill>
                <a:latin typeface="Calibri" pitchFamily="34" charset="0"/>
                <a:ea typeface="Calibri" pitchFamily="34" charset="-122"/>
                <a:cs typeface="Calibri" pitchFamily="34" charset="-120"/>
              </a:rPr>
              <a:t>AllDiff(X_0,c ... X_8,c)
</a:t>
            </a:r>
            <a:pPr indent="0" marL="0">
              <a:buNone/>
            </a:pPr>
            <a:r>
              <a:rPr lang="en-US" sz="1250" b="1" dirty="0">
                <a:solidFill>
                  <a:srgbClr val="FFFFFF"/>
                </a:solidFill>
                <a:latin typeface="Calibri" pitchFamily="34" charset="0"/>
                <a:ea typeface="Calibri" pitchFamily="34" charset="-122"/>
                <a:cs typeface="Calibri" pitchFamily="34" charset="-120"/>
              </a:rPr>
              <a:t>3. 3x3 Box Constraint: </a:t>
            </a:r>
            <a:pPr indent="0" marL="0">
              <a:buNone/>
            </a:pPr>
            <a:r>
              <a:rPr lang="en-US" sz="1250" dirty="0">
                <a:solidFill>
                  <a:srgbClr val="94A3B8"/>
                </a:solidFill>
                <a:latin typeface="Calibri" pitchFamily="34" charset="0"/>
                <a:ea typeface="Calibri" pitchFamily="34" charset="-122"/>
                <a:cs typeface="Calibri" pitchFamily="34" charset="-120"/>
              </a:rPr>
              <a:t>AllDiff across each of the 9 subgrids.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CONSTRAINT NETWORK</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Graph Architecture &amp; Neighborhood Scope</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5212080" cy="4754880"/>
          </a:xfrm>
          <a:prstGeom prst="roundRect">
            <a:avLst>
              <a:gd name="adj" fmla="val 1923"/>
            </a:avLst>
          </a:prstGeom>
          <a:solidFill>
            <a:srgbClr val="1E293B"/>
          </a:solidFill>
          <a:ln w="12700">
            <a:solidFill>
              <a:srgbClr val="334155"/>
            </a:solidFill>
            <a:prstDash val="solid"/>
          </a:ln>
        </p:spPr>
      </p:sp>
      <p:sp>
        <p:nvSpPr>
          <p:cNvPr id="6" name="Text 4"/>
          <p:cNvSpPr/>
          <p:nvPr/>
        </p:nvSpPr>
        <p:spPr>
          <a:xfrm>
            <a:off x="1005840" y="1737360"/>
            <a:ext cx="4663440" cy="365760"/>
          </a:xfrm>
          <a:prstGeom prst="rect">
            <a:avLst/>
          </a:prstGeom>
          <a:noFill/>
          <a:ln/>
        </p:spPr>
        <p:txBody>
          <a:bodyPr wrap="square"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Constraint Graph Metrics</a:t>
            </a:r>
            <a:endParaRPr lang="en-US" sz="1600" dirty="0"/>
          </a:p>
        </p:txBody>
      </p:sp>
      <p:sp>
        <p:nvSpPr>
          <p:cNvPr id="7" name="Text 5"/>
          <p:cNvSpPr/>
          <p:nvPr/>
        </p:nvSpPr>
        <p:spPr>
          <a:xfrm>
            <a:off x="1005840" y="2240280"/>
            <a:ext cx="4663440" cy="3749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Graph Representation: </a:t>
            </a:r>
            <a:pPr indent="0" marL="0">
              <a:buNone/>
            </a:pPr>
            <a:r>
              <a:rPr lang="en-US" sz="1300" dirty="0">
                <a:solidFill>
                  <a:srgbClr val="94A3B8"/>
                </a:solidFill>
                <a:latin typeface="Calibri" pitchFamily="34" charset="0"/>
                <a:ea typeface="Calibri" pitchFamily="34" charset="-122"/>
                <a:cs typeface="Calibri" pitchFamily="34" charset="-120"/>
              </a:rPr>
              <a:t>Nodes = Variables (81 cells); Edges = Constraints between cells.
</a:t>
            </a:r>
            <a:pPr indent="0" marL="0">
              <a:buNone/>
            </a:pPr>
            <a:r>
              <a:rPr lang="en-US" sz="1300" b="1" dirty="0">
                <a:solidFill>
                  <a:srgbClr val="FFFFFF"/>
                </a:solidFill>
                <a:latin typeface="Calibri" pitchFamily="34" charset="0"/>
                <a:ea typeface="Calibri" pitchFamily="34" charset="-122"/>
                <a:cs typeface="Calibri" pitchFamily="34" charset="-120"/>
              </a:rPr>
              <a:t>• Degree per Variable = 20:
</a:t>
            </a:r>
            <a:pPr indent="0" marL="0">
              <a:buNone/>
            </a:pPr>
            <a:r>
              <a:rPr lang="en-US" sz="1300" dirty="0">
                <a:solidFill>
                  <a:srgbClr val="94A3B8"/>
                </a:solidFill>
                <a:latin typeface="Calibri" pitchFamily="34" charset="0"/>
                <a:ea typeface="Calibri" pitchFamily="34" charset="-122"/>
                <a:cs typeface="Calibri" pitchFamily="34" charset="-120"/>
              </a:rPr>
              <a:t>  - 8 peers in the same row
  - 8 peers in the same column
  - 4 peers in the same 3x3 box
</a:t>
            </a:r>
            <a:pPr indent="0" marL="0">
              <a:buNone/>
            </a:pPr>
            <a:r>
              <a:rPr lang="en-US" sz="1300" b="1" dirty="0">
                <a:solidFill>
                  <a:srgbClr val="FFFFFF"/>
                </a:solidFill>
                <a:latin typeface="Calibri" pitchFamily="34" charset="0"/>
                <a:ea typeface="Calibri" pitchFamily="34" charset="-122"/>
                <a:cs typeface="Calibri" pitchFamily="34" charset="-120"/>
              </a:rPr>
              <a:t>• Total Binary Constraints = 810:
</a:t>
            </a:r>
            <a:pPr indent="0" marL="0">
              <a:buNone/>
            </a:pPr>
            <a:r>
              <a:rPr lang="en-US" sz="1300" dirty="0">
                <a:solidFill>
                  <a:srgbClr val="94A3B8"/>
                </a:solidFill>
                <a:latin typeface="Calibri" pitchFamily="34" charset="0"/>
                <a:ea typeface="Calibri" pitchFamily="34" charset="-122"/>
                <a:cs typeface="Calibri" pitchFamily="34" charset="-120"/>
              </a:rPr>
              <a:t>  - 9 rows × 36 pairs = 324</a:t>
            </a:r>
            <a:endParaRPr lang="en-US" sz="1300" dirty="0"/>
          </a:p>
          <a:p>
            <a:pPr indent="0" marL="0">
              <a:buNone/>
            </a:pPr>
            <a:r>
              <a:rPr lang="en-US" sz="1300" dirty="0">
                <a:solidFill>
                  <a:srgbClr val="94A3B8"/>
                </a:solidFill>
                <a:latin typeface="Calibri" pitchFamily="34" charset="0"/>
                <a:ea typeface="Calibri" pitchFamily="34" charset="-122"/>
                <a:cs typeface="Calibri" pitchFamily="34" charset="-120"/>
              </a:rPr>
              <a:t>  - 9 columns × 36 pairs = 324</a:t>
            </a:r>
            <a:endParaRPr lang="en-US" sz="1300" dirty="0"/>
          </a:p>
          <a:p>
            <a:pPr indent="0" marL="0">
              <a:buNone/>
            </a:pPr>
            <a:r>
              <a:rPr lang="en-US" sz="1300" dirty="0">
                <a:solidFill>
                  <a:srgbClr val="94A3B8"/>
                </a:solidFill>
                <a:latin typeface="Calibri" pitchFamily="34" charset="0"/>
                <a:ea typeface="Calibri" pitchFamily="34" charset="-122"/>
                <a:cs typeface="Calibri" pitchFamily="34" charset="-120"/>
              </a:rPr>
              <a:t>  - 9 boxes × 18 unique box pairs = 162</a:t>
            </a:r>
            <a:endParaRPr lang="en-US" sz="1300" dirty="0"/>
          </a:p>
          <a:p>
            <a:pPr indent="0" marL="0">
              <a:buNone/>
            </a:pPr>
            <a:r>
              <a:rPr lang="en-US" sz="1300" dirty="0">
                <a:solidFill>
                  <a:srgbClr val="94A3B8"/>
                </a:solidFill>
                <a:latin typeface="Calibri" pitchFamily="34" charset="0"/>
                <a:ea typeface="Calibri" pitchFamily="34" charset="-122"/>
                <a:cs typeface="Calibri" pitchFamily="34" charset="-120"/>
              </a:rPr>
              <a:t>  - 324 + 324 + 162 = 810 binary edges</a:t>
            </a:r>
            <a:endParaRPr lang="en-US" sz="1300" dirty="0"/>
          </a:p>
        </p:txBody>
      </p:sp>
      <p:sp>
        <p:nvSpPr>
          <p:cNvPr id="8" name="Shape 6"/>
          <p:cNvSpPr/>
          <p:nvPr/>
        </p:nvSpPr>
        <p:spPr>
          <a:xfrm>
            <a:off x="6245352" y="1508760"/>
            <a:ext cx="5212080" cy="4754880"/>
          </a:xfrm>
          <a:prstGeom prst="roundRect">
            <a:avLst>
              <a:gd name="adj" fmla="val 1923"/>
            </a:avLst>
          </a:prstGeom>
          <a:solidFill>
            <a:srgbClr val="1E293B"/>
          </a:solidFill>
          <a:ln w="12700">
            <a:solidFill>
              <a:srgbClr val="334155"/>
            </a:solidFill>
            <a:prstDash val="solid"/>
          </a:ln>
        </p:spPr>
      </p:sp>
      <p:sp>
        <p:nvSpPr>
          <p:cNvPr id="9" name="Text 7"/>
          <p:cNvSpPr/>
          <p:nvPr/>
        </p:nvSpPr>
        <p:spPr>
          <a:xfrm>
            <a:off x="6519672" y="1737360"/>
            <a:ext cx="4663440" cy="365760"/>
          </a:xfrm>
          <a:prstGeom prst="rect">
            <a:avLst/>
          </a:prstGeom>
          <a:noFill/>
          <a:ln/>
        </p:spPr>
        <p:txBody>
          <a:bodyPr wrap="square" rtlCol="0" anchor="ctr"/>
          <a:lstStyle/>
          <a:p>
            <a:pPr indent="0" marL="0">
              <a:buNone/>
            </a:pPr>
            <a:r>
              <a:rPr lang="en-US" sz="1600" b="1" dirty="0">
                <a:solidFill>
                  <a:srgbClr val="6366F1"/>
                </a:solidFill>
                <a:latin typeface="Calibri" pitchFamily="34" charset="0"/>
                <a:ea typeface="Calibri" pitchFamily="34" charset="-122"/>
                <a:cs typeface="Calibri" pitchFamily="34" charset="-120"/>
              </a:rPr>
              <a:t>Algorithmic Significance of Topology</a:t>
            </a:r>
            <a:endParaRPr lang="en-US" sz="1600" dirty="0"/>
          </a:p>
        </p:txBody>
      </p:sp>
      <p:sp>
        <p:nvSpPr>
          <p:cNvPr id="10" name="Text 8"/>
          <p:cNvSpPr/>
          <p:nvPr/>
        </p:nvSpPr>
        <p:spPr>
          <a:xfrm>
            <a:off x="6519672" y="2240280"/>
            <a:ext cx="4663440" cy="3749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Dense Interconnectedness: </a:t>
            </a:r>
            <a:pPr indent="0" marL="0">
              <a:buNone/>
            </a:pPr>
            <a:r>
              <a:rPr lang="en-US" sz="1300" dirty="0">
                <a:solidFill>
                  <a:srgbClr val="94A3B8"/>
                </a:solidFill>
                <a:latin typeface="Calibri" pitchFamily="34" charset="0"/>
                <a:ea typeface="Calibri" pitchFamily="34" charset="-122"/>
                <a:cs typeface="Calibri" pitchFamily="34" charset="-120"/>
              </a:rPr>
              <a:t>Because each cell constrains 20 other cells, assigning a single number immediately propagates constraints to almost 25% of the grid.
</a:t>
            </a:r>
            <a:pPr indent="0" marL="0">
              <a:buNone/>
            </a:pPr>
            <a:r>
              <a:rPr lang="en-US" sz="1300" b="1" dirty="0">
                <a:solidFill>
                  <a:srgbClr val="FFFFFF"/>
                </a:solidFill>
                <a:latin typeface="Calibri" pitchFamily="34" charset="0"/>
                <a:ea typeface="Calibri" pitchFamily="34" charset="-122"/>
                <a:cs typeface="Calibri" pitchFamily="34" charset="-120"/>
              </a:rPr>
              <a:t>• Rapid Dead-End Identification: </a:t>
            </a:r>
            <a:pPr indent="0" marL="0">
              <a:buNone/>
            </a:pPr>
            <a:r>
              <a:rPr lang="en-US" sz="1300" dirty="0">
                <a:solidFill>
                  <a:srgbClr val="94A3B8"/>
                </a:solidFill>
                <a:latin typeface="Calibri" pitchFamily="34" charset="0"/>
                <a:ea typeface="Calibri" pitchFamily="34" charset="-122"/>
                <a:cs typeface="Calibri" pitchFamily="34" charset="-120"/>
              </a:rPr>
              <a:t>If an assignment causes any of its 20 neighbors to have an empty domain, inconsistency is discovered immediately.
</a:t>
            </a:r>
            <a:pPr indent="0" marL="0">
              <a:buNone/>
            </a:pPr>
            <a:r>
              <a:rPr lang="en-US" sz="1300" b="1" dirty="0">
                <a:solidFill>
                  <a:srgbClr val="FFFFFF"/>
                </a:solidFill>
                <a:latin typeface="Calibri" pitchFamily="34" charset="0"/>
                <a:ea typeface="Calibri" pitchFamily="34" charset="-122"/>
                <a:cs typeface="Calibri" pitchFamily="34" charset="-120"/>
              </a:rPr>
              <a:t>• Foundation for Heuristics: </a:t>
            </a:r>
            <a:pPr indent="0" marL="0">
              <a:buNone/>
            </a:pPr>
            <a:r>
              <a:rPr lang="en-US" sz="1300" dirty="0">
                <a:solidFill>
                  <a:srgbClr val="94A3B8"/>
                </a:solidFill>
                <a:latin typeface="Calibri" pitchFamily="34" charset="0"/>
                <a:ea typeface="Calibri" pitchFamily="34" charset="-122"/>
                <a:cs typeface="Calibri" pitchFamily="34" charset="-120"/>
              </a:rPr>
              <a:t>The graph degree directly enables the Degree Heuristic and Arc Consistency algorithms.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SEARCH ALGORITHM</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Depth-First Search with Backtracking</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3337560" cy="4754880"/>
          </a:xfrm>
          <a:prstGeom prst="roundRect">
            <a:avLst>
              <a:gd name="adj" fmla="val 2740"/>
            </a:avLst>
          </a:prstGeom>
          <a:solidFill>
            <a:srgbClr val="1E293B"/>
          </a:solidFill>
          <a:ln w="12700">
            <a:solidFill>
              <a:srgbClr val="334155"/>
            </a:solidFill>
            <a:prstDash val="solid"/>
          </a:ln>
        </p:spPr>
      </p:sp>
      <p:sp>
        <p:nvSpPr>
          <p:cNvPr id="6" name="Text 4"/>
          <p:cNvSpPr/>
          <p:nvPr/>
        </p:nvSpPr>
        <p:spPr>
          <a:xfrm>
            <a:off x="914400" y="1737360"/>
            <a:ext cx="2971800" cy="320040"/>
          </a:xfrm>
          <a:prstGeom prst="rect">
            <a:avLst/>
          </a:prstGeom>
          <a:noFill/>
          <a:ln/>
        </p:spPr>
        <p:txBody>
          <a:bodyPr wrap="square"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1. Variable Selection</a:t>
            </a:r>
            <a:endParaRPr lang="en-US" sz="1500" dirty="0"/>
          </a:p>
        </p:txBody>
      </p:sp>
      <p:sp>
        <p:nvSpPr>
          <p:cNvPr id="7" name="Text 5"/>
          <p:cNvSpPr/>
          <p:nvPr/>
        </p:nvSpPr>
        <p:spPr>
          <a:xfrm>
            <a:off x="914400" y="2240280"/>
            <a:ext cx="2971800" cy="3749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Scan for Unassigned Cell
</a:t>
            </a:r>
            <a:pPr indent="0" marL="0">
              <a:buNone/>
            </a:pPr>
            <a:r>
              <a:rPr lang="en-US" sz="1250" dirty="0">
                <a:solidFill>
                  <a:srgbClr val="94A3B8"/>
                </a:solidFill>
                <a:latin typeface="Calibri" pitchFamily="34" charset="0"/>
                <a:ea typeface="Calibri" pitchFamily="34" charset="-122"/>
                <a:cs typeface="Calibri" pitchFamily="34" charset="-120"/>
              </a:rPr>
              <a:t>• Scans grid (r, c) until it finds cell with value 0.
</a:t>
            </a:r>
            <a:pPr indent="0" marL="0">
              <a:buNone/>
            </a:pPr>
            <a:r>
              <a:rPr lang="en-US" sz="1250" b="1" dirty="0">
                <a:solidFill>
                  <a:srgbClr val="FFFFFF"/>
                </a:solidFill>
                <a:latin typeface="Calibri" pitchFamily="34" charset="0"/>
                <a:ea typeface="Calibri" pitchFamily="34" charset="-122"/>
                <a:cs typeface="Calibri" pitchFamily="34" charset="-120"/>
              </a:rPr>
              <a:t>• Base Case: </a:t>
            </a:r>
            <a:pPr indent="0" marL="0">
              <a:buNone/>
            </a:pPr>
            <a:r>
              <a:rPr lang="en-US" sz="1250" dirty="0">
                <a:solidFill>
                  <a:srgbClr val="94A3B8"/>
                </a:solidFill>
                <a:latin typeface="Calibri" pitchFamily="34" charset="0"/>
                <a:ea typeface="Calibri" pitchFamily="34" charset="-122"/>
                <a:cs typeface="Calibri" pitchFamily="34" charset="-120"/>
              </a:rPr>
              <a:t>If no cell has value 0, every variable has a consistent assignment. Solved!
</a:t>
            </a:r>
            <a:pPr indent="0" marL="0">
              <a:buNone/>
            </a:pPr>
            <a:r>
              <a:rPr lang="en-US" sz="1250" b="1" dirty="0">
                <a:solidFill>
                  <a:srgbClr val="FFFFFF"/>
                </a:solidFill>
                <a:latin typeface="Calibri" pitchFamily="34" charset="0"/>
                <a:ea typeface="Calibri" pitchFamily="34" charset="-122"/>
                <a:cs typeface="Calibri" pitchFamily="34" charset="-120"/>
              </a:rPr>
              <a:t>• Code Reference: </a:t>
            </a:r>
            <a:pPr indent="0" marL="0">
              <a:buNone/>
            </a:pPr>
            <a:r>
              <a:rPr lang="en-US" sz="1250" dirty="0">
                <a:solidFill>
                  <a:srgbClr val="38BDF8"/>
                </a:solidFill>
                <a:latin typeface="Calibri" pitchFamily="34" charset="0"/>
                <a:ea typeface="Calibri" pitchFamily="34" charset="-122"/>
                <a:cs typeface="Calibri" pitchFamily="34" charset="-120"/>
              </a:rPr>
              <a:t>Lines 50-52 in SudokuBoard.jsx</a:t>
            </a:r>
            <a:endParaRPr lang="en-US" sz="1250" dirty="0"/>
          </a:p>
        </p:txBody>
      </p:sp>
      <p:sp>
        <p:nvSpPr>
          <p:cNvPr id="8" name="Shape 6"/>
          <p:cNvSpPr/>
          <p:nvPr/>
        </p:nvSpPr>
        <p:spPr>
          <a:xfrm>
            <a:off x="4425696" y="1508760"/>
            <a:ext cx="3337560" cy="4754880"/>
          </a:xfrm>
          <a:prstGeom prst="roundRect">
            <a:avLst>
              <a:gd name="adj" fmla="val 2740"/>
            </a:avLst>
          </a:prstGeom>
          <a:solidFill>
            <a:srgbClr val="1E293B"/>
          </a:solidFill>
          <a:ln w="12700">
            <a:solidFill>
              <a:srgbClr val="334155"/>
            </a:solidFill>
            <a:prstDash val="solid"/>
          </a:ln>
        </p:spPr>
      </p:sp>
      <p:sp>
        <p:nvSpPr>
          <p:cNvPr id="9" name="Text 7"/>
          <p:cNvSpPr/>
          <p:nvPr/>
        </p:nvSpPr>
        <p:spPr>
          <a:xfrm>
            <a:off x="4608576" y="1737360"/>
            <a:ext cx="2971800" cy="320040"/>
          </a:xfrm>
          <a:prstGeom prst="rect">
            <a:avLst/>
          </a:prstGeom>
          <a:noFill/>
          <a:ln/>
        </p:spPr>
        <p:txBody>
          <a:bodyPr wrap="square"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2. Constraint Verification</a:t>
            </a:r>
            <a:endParaRPr lang="en-US" sz="1500" dirty="0"/>
          </a:p>
        </p:txBody>
      </p:sp>
      <p:sp>
        <p:nvSpPr>
          <p:cNvPr id="10" name="Text 8"/>
          <p:cNvSpPr/>
          <p:nvPr/>
        </p:nvSpPr>
        <p:spPr>
          <a:xfrm>
            <a:off x="4608576" y="2240280"/>
            <a:ext cx="2971800" cy="3749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canPlace(board, r, c, num)
</a:t>
            </a:r>
            <a:pPr indent="0" marL="0">
              <a:buNone/>
            </a:pPr>
            <a:r>
              <a:rPr lang="en-US" sz="1250" dirty="0">
                <a:solidFill>
                  <a:srgbClr val="94A3B8"/>
                </a:solidFill>
                <a:latin typeface="Calibri" pitchFamily="34" charset="0"/>
                <a:ea typeface="Calibri" pitchFamily="34" charset="-122"/>
                <a:cs typeface="Calibri" pitchFamily="34" charset="-120"/>
              </a:rPr>
              <a:t>• Iterates num from 1 to 9.
</a:t>
            </a:r>
            <a:pPr indent="0" marL="0">
              <a:buNone/>
            </a:pPr>
            <a:r>
              <a:rPr lang="en-US" sz="1250" dirty="0">
                <a:solidFill>
                  <a:srgbClr val="94A3B8"/>
                </a:solidFill>
                <a:latin typeface="Calibri" pitchFamily="34" charset="0"/>
                <a:ea typeface="Calibri" pitchFamily="34" charset="-122"/>
                <a:cs typeface="Calibri" pitchFamily="34" charset="-120"/>
              </a:rPr>
              <a:t>• Checks if num exists in row r, col c, or the 3x3 block.
</a:t>
            </a:r>
            <a:pPr indent="0" marL="0">
              <a:buNone/>
            </a:pPr>
            <a:r>
              <a:rPr lang="en-US" sz="1250" b="1" dirty="0">
                <a:solidFill>
                  <a:srgbClr val="FFFFFF"/>
                </a:solidFill>
                <a:latin typeface="Calibri" pitchFamily="34" charset="0"/>
                <a:ea typeface="Calibri" pitchFamily="34" charset="-122"/>
                <a:cs typeface="Calibri" pitchFamily="34" charset="-120"/>
              </a:rPr>
              <a:t>• Pruning Action: </a:t>
            </a:r>
            <a:pPr indent="0" marL="0">
              <a:buNone/>
            </a:pPr>
            <a:r>
              <a:rPr lang="en-US" sz="1250" dirty="0">
                <a:solidFill>
                  <a:srgbClr val="94A3B8"/>
                </a:solidFill>
                <a:latin typeface="Calibri" pitchFamily="34" charset="0"/>
                <a:ea typeface="Calibri" pitchFamily="34" charset="-122"/>
                <a:cs typeface="Calibri" pitchFamily="34" charset="-120"/>
              </a:rPr>
              <a:t>If violated, skips assignment immediately, pruning that search branch.
</a:t>
            </a:r>
            <a:pPr indent="0" marL="0">
              <a:buNone/>
            </a:pPr>
            <a:r>
              <a:rPr lang="en-US" sz="1250" b="1" dirty="0">
                <a:solidFill>
                  <a:srgbClr val="FFFFFF"/>
                </a:solidFill>
                <a:latin typeface="Calibri" pitchFamily="34" charset="0"/>
                <a:ea typeface="Calibri" pitchFamily="34" charset="-122"/>
                <a:cs typeface="Calibri" pitchFamily="34" charset="-120"/>
              </a:rPr>
              <a:t>• Code Reference: </a:t>
            </a:r>
            <a:pPr indent="0" marL="0">
              <a:buNone/>
            </a:pPr>
            <a:r>
              <a:rPr lang="en-US" sz="1250" dirty="0">
                <a:solidFill>
                  <a:srgbClr val="10B981"/>
                </a:solidFill>
                <a:latin typeface="Calibri" pitchFamily="34" charset="0"/>
                <a:ea typeface="Calibri" pitchFamily="34" charset="-122"/>
                <a:cs typeface="Calibri" pitchFamily="34" charset="-120"/>
              </a:rPr>
              <a:t>Lines 29-47 in SudokuBoard.jsx</a:t>
            </a:r>
            <a:endParaRPr lang="en-US" sz="1250" dirty="0"/>
          </a:p>
        </p:txBody>
      </p:sp>
      <p:sp>
        <p:nvSpPr>
          <p:cNvPr id="11" name="Shape 9"/>
          <p:cNvSpPr/>
          <p:nvPr/>
        </p:nvSpPr>
        <p:spPr>
          <a:xfrm>
            <a:off x="8119872" y="1508760"/>
            <a:ext cx="3337560" cy="4754880"/>
          </a:xfrm>
          <a:prstGeom prst="roundRect">
            <a:avLst>
              <a:gd name="adj" fmla="val 2740"/>
            </a:avLst>
          </a:prstGeom>
          <a:solidFill>
            <a:srgbClr val="1E293B"/>
          </a:solidFill>
          <a:ln w="12700">
            <a:solidFill>
              <a:srgbClr val="334155"/>
            </a:solidFill>
            <a:prstDash val="solid"/>
          </a:ln>
        </p:spPr>
      </p:sp>
      <p:sp>
        <p:nvSpPr>
          <p:cNvPr id="12" name="Text 10"/>
          <p:cNvSpPr/>
          <p:nvPr/>
        </p:nvSpPr>
        <p:spPr>
          <a:xfrm>
            <a:off x="8302752" y="1737360"/>
            <a:ext cx="2971800" cy="320040"/>
          </a:xfrm>
          <a:prstGeom prst="rect">
            <a:avLst/>
          </a:prstGeom>
          <a:noFill/>
          <a:ln/>
        </p:spPr>
        <p:txBody>
          <a:bodyPr wrap="square"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3. Recursive Backtrack</a:t>
            </a:r>
            <a:endParaRPr lang="en-US" sz="1500" dirty="0"/>
          </a:p>
        </p:txBody>
      </p:sp>
      <p:sp>
        <p:nvSpPr>
          <p:cNvPr id="13" name="Text 11"/>
          <p:cNvSpPr/>
          <p:nvPr/>
        </p:nvSpPr>
        <p:spPr>
          <a:xfrm>
            <a:off x="8302752" y="2240280"/>
            <a:ext cx="2971800" cy="3749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solveSudoku(board)
</a:t>
            </a:r>
            <a:pPr indent="0" marL="0">
              <a:buNone/>
            </a:pPr>
            <a:r>
              <a:rPr lang="en-US" sz="1250" dirty="0">
                <a:solidFill>
                  <a:srgbClr val="94A3B8"/>
                </a:solidFill>
                <a:latin typeface="Calibri" pitchFamily="34" charset="0"/>
                <a:ea typeface="Calibri" pitchFamily="34" charset="-122"/>
                <a:cs typeface="Calibri" pitchFamily="34" charset="-120"/>
              </a:rPr>
              <a:t>• Tentatively assigns board[r][c] = num.
</a:t>
            </a:r>
            <a:pPr indent="0" marL="0">
              <a:buNone/>
            </a:pPr>
            <a:r>
              <a:rPr lang="en-US" sz="1250" dirty="0">
                <a:solidFill>
                  <a:srgbClr val="94A3B8"/>
                </a:solidFill>
                <a:latin typeface="Calibri" pitchFamily="34" charset="0"/>
                <a:ea typeface="Calibri" pitchFamily="34" charset="-122"/>
                <a:cs typeface="Calibri" pitchFamily="34" charset="-120"/>
              </a:rPr>
              <a:t>• Recurses to solve the rest of the board.
</a:t>
            </a:r>
            <a:pPr indent="0" marL="0">
              <a:buNone/>
            </a:pPr>
            <a:r>
              <a:rPr lang="en-US" sz="1250" b="1" dirty="0">
                <a:solidFill>
                  <a:srgbClr val="FFFFFF"/>
                </a:solidFill>
                <a:latin typeface="Calibri" pitchFamily="34" charset="0"/>
                <a:ea typeface="Calibri" pitchFamily="34" charset="-122"/>
                <a:cs typeface="Calibri" pitchFamily="34" charset="-120"/>
              </a:rPr>
              <a:t>• Backtracking: </a:t>
            </a:r>
            <a:pPr indent="0" marL="0">
              <a:buNone/>
            </a:pPr>
            <a:r>
              <a:rPr lang="en-US" sz="1250" dirty="0">
                <a:solidFill>
                  <a:srgbClr val="94A3B8"/>
                </a:solidFill>
                <a:latin typeface="Calibri" pitchFamily="34" charset="0"/>
                <a:ea typeface="Calibri" pitchFamily="34" charset="-122"/>
                <a:cs typeface="Calibri" pitchFamily="34" charset="-120"/>
              </a:rPr>
              <a:t>If recursion returns false, resets board[r][c] = 0 and tries next candidate.
</a:t>
            </a:r>
            <a:pPr indent="0" marL="0">
              <a:buNone/>
            </a:pPr>
            <a:r>
              <a:rPr lang="en-US" sz="1250" b="1" dirty="0">
                <a:solidFill>
                  <a:srgbClr val="FFFFFF"/>
                </a:solidFill>
                <a:latin typeface="Calibri" pitchFamily="34" charset="0"/>
                <a:ea typeface="Calibri" pitchFamily="34" charset="-122"/>
                <a:cs typeface="Calibri" pitchFamily="34" charset="-120"/>
              </a:rPr>
              <a:t>• Code Reference: </a:t>
            </a:r>
            <a:pPr indent="0" marL="0">
              <a:buNone/>
            </a:pPr>
            <a:r>
              <a:rPr lang="en-US" sz="1250" dirty="0">
                <a:solidFill>
                  <a:srgbClr val="F59E0B"/>
                </a:solidFill>
                <a:latin typeface="Calibri" pitchFamily="34" charset="0"/>
                <a:ea typeface="Calibri" pitchFamily="34" charset="-122"/>
                <a:cs typeface="Calibri" pitchFamily="34" charset="-120"/>
              </a:rPr>
              <a:t>Lines 56-62 in SudokuBoard.jsx</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SEARCH DYNAMICS</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State-Space Tree &amp; Branch Pruning Mechanism</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2468880" cy="4754880"/>
          </a:xfrm>
          <a:prstGeom prst="roundRect">
            <a:avLst>
              <a:gd name="adj" fmla="val 2963"/>
            </a:avLst>
          </a:prstGeom>
          <a:solidFill>
            <a:srgbClr val="1E293B"/>
          </a:solidFill>
          <a:ln w="19050">
            <a:solidFill>
              <a:srgbClr val="38BDF8"/>
            </a:solidFill>
            <a:prstDash val="solid"/>
          </a:ln>
        </p:spPr>
      </p:sp>
      <p:sp>
        <p:nvSpPr>
          <p:cNvPr id="6" name="Text 4"/>
          <p:cNvSpPr/>
          <p:nvPr/>
        </p:nvSpPr>
        <p:spPr>
          <a:xfrm>
            <a:off x="822960" y="1737360"/>
            <a:ext cx="2286000" cy="548640"/>
          </a:xfrm>
          <a:prstGeom prst="rect">
            <a:avLst/>
          </a:prstGeom>
          <a:noFill/>
          <a:ln/>
        </p:spPr>
        <p:txBody>
          <a:bodyPr wrap="square"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STATE 1</a:t>
            </a:r>
            <a:endParaRPr lang="en-US" sz="1400" dirty="0"/>
          </a:p>
          <a:p>
            <a:pPr algn="ctr" indent="0" marL="0">
              <a:buNone/>
            </a:pPr>
            <a:r>
              <a:rPr lang="en-US" sz="1400" b="1" dirty="0">
                <a:solidFill>
                  <a:srgbClr val="38BDF8"/>
                </a:solidFill>
                <a:latin typeface="Calibri" pitchFamily="34" charset="0"/>
                <a:ea typeface="Calibri" pitchFamily="34" charset="-122"/>
                <a:cs typeface="Calibri" pitchFamily="34" charset="-120"/>
              </a:rPr>
              <a:t>Choose Variable</a:t>
            </a:r>
            <a:endParaRPr lang="en-US" sz="1400" dirty="0"/>
          </a:p>
        </p:txBody>
      </p:sp>
      <p:sp>
        <p:nvSpPr>
          <p:cNvPr id="7" name="Text 5"/>
          <p:cNvSpPr/>
          <p:nvPr/>
        </p:nvSpPr>
        <p:spPr>
          <a:xfrm>
            <a:off x="868680" y="2514600"/>
            <a:ext cx="2194560" cy="347472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Current Cell: (0, 2)</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Domain: {1, 2, ..., 9}</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Candidate: 1</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Candidate: 2</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Candidate: 4 (Valid)</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Scans unassigned cells and selects candidate.</a:t>
            </a:r>
            <a:endParaRPr lang="en-US" sz="1250" dirty="0"/>
          </a:p>
        </p:txBody>
      </p:sp>
      <p:sp>
        <p:nvSpPr>
          <p:cNvPr id="8" name="Shape 6"/>
          <p:cNvSpPr/>
          <p:nvPr/>
        </p:nvSpPr>
        <p:spPr>
          <a:xfrm>
            <a:off x="3483864" y="1508760"/>
            <a:ext cx="2468880" cy="4754880"/>
          </a:xfrm>
          <a:prstGeom prst="roundRect">
            <a:avLst>
              <a:gd name="adj" fmla="val 2963"/>
            </a:avLst>
          </a:prstGeom>
          <a:solidFill>
            <a:srgbClr val="1E293B"/>
          </a:solidFill>
          <a:ln w="19050">
            <a:solidFill>
              <a:srgbClr val="EF4444"/>
            </a:solidFill>
            <a:prstDash val="solid"/>
          </a:ln>
        </p:spPr>
      </p:sp>
      <p:sp>
        <p:nvSpPr>
          <p:cNvPr id="9" name="Text 7"/>
          <p:cNvSpPr/>
          <p:nvPr/>
        </p:nvSpPr>
        <p:spPr>
          <a:xfrm>
            <a:off x="3575304" y="1737360"/>
            <a:ext cx="2286000" cy="548640"/>
          </a:xfrm>
          <a:prstGeom prst="rect">
            <a:avLst/>
          </a:prstGeom>
          <a:noFill/>
          <a:ln/>
        </p:spPr>
        <p:txBody>
          <a:bodyPr wrap="square" rtlCol="0" anchor="ctr"/>
          <a:lstStyle/>
          <a:p>
            <a:pPr algn="ctr" indent="0" marL="0">
              <a:buNone/>
            </a:pPr>
            <a:r>
              <a:rPr lang="en-US" sz="1400" b="1" dirty="0">
                <a:solidFill>
                  <a:srgbClr val="EF4444"/>
                </a:solidFill>
                <a:latin typeface="Calibri" pitchFamily="34" charset="0"/>
                <a:ea typeface="Calibri" pitchFamily="34" charset="-122"/>
                <a:cs typeface="Calibri" pitchFamily="34" charset="-120"/>
              </a:rPr>
              <a:t>STATE 2</a:t>
            </a:r>
            <a:endParaRPr lang="en-US" sz="1400" dirty="0"/>
          </a:p>
          <a:p>
            <a:pPr algn="ctr" indent="0" marL="0">
              <a:buNone/>
            </a:pPr>
            <a:r>
              <a:rPr lang="en-US" sz="1400" b="1" dirty="0">
                <a:solidFill>
                  <a:srgbClr val="EF4444"/>
                </a:solidFill>
                <a:latin typeface="Calibri" pitchFamily="34" charset="0"/>
                <a:ea typeface="Calibri" pitchFamily="34" charset="-122"/>
                <a:cs typeface="Calibri" pitchFamily="34" charset="-120"/>
              </a:rPr>
              <a:t>Immediate Pruning</a:t>
            </a:r>
            <a:endParaRPr lang="en-US" sz="1400" dirty="0"/>
          </a:p>
        </p:txBody>
      </p:sp>
      <p:sp>
        <p:nvSpPr>
          <p:cNvPr id="10" name="Text 8"/>
          <p:cNvSpPr/>
          <p:nvPr/>
        </p:nvSpPr>
        <p:spPr>
          <a:xfrm>
            <a:off x="3621024" y="2514600"/>
            <a:ext cx="2194560" cy="347472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canPlace((0,2), 1) -&gt; ❌</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(1 already in row 0)</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canPlace((0,2), 2) -&gt; ❌</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(2 already in 3x3 box)</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Entire subtree is pruned without expanding child nodes!</a:t>
            </a:r>
            <a:endParaRPr lang="en-US" sz="1250" dirty="0"/>
          </a:p>
        </p:txBody>
      </p:sp>
      <p:sp>
        <p:nvSpPr>
          <p:cNvPr id="11" name="Shape 9"/>
          <p:cNvSpPr/>
          <p:nvPr/>
        </p:nvSpPr>
        <p:spPr>
          <a:xfrm>
            <a:off x="6236208" y="1508760"/>
            <a:ext cx="2468880" cy="4754880"/>
          </a:xfrm>
          <a:prstGeom prst="roundRect">
            <a:avLst>
              <a:gd name="adj" fmla="val 2963"/>
            </a:avLst>
          </a:prstGeom>
          <a:solidFill>
            <a:srgbClr val="1E293B"/>
          </a:solidFill>
          <a:ln w="19050">
            <a:solidFill>
              <a:srgbClr val="F59E0B"/>
            </a:solidFill>
            <a:prstDash val="solid"/>
          </a:ln>
        </p:spPr>
      </p:sp>
      <p:sp>
        <p:nvSpPr>
          <p:cNvPr id="12" name="Text 10"/>
          <p:cNvSpPr/>
          <p:nvPr/>
        </p:nvSpPr>
        <p:spPr>
          <a:xfrm>
            <a:off x="6327648" y="1737360"/>
            <a:ext cx="2286000" cy="548640"/>
          </a:xfrm>
          <a:prstGeom prst="rect">
            <a:avLst/>
          </a:prstGeom>
          <a:noFill/>
          <a:ln/>
        </p:spPr>
        <p:txBody>
          <a:bodyPr wrap="square" rtlCol="0" anchor="ctr"/>
          <a:lstStyle/>
          <a:p>
            <a:pPr algn="ctr" indent="0" marL="0">
              <a:buNone/>
            </a:pPr>
            <a:r>
              <a:rPr lang="en-US" sz="1400" b="1" dirty="0">
                <a:solidFill>
                  <a:srgbClr val="F59E0B"/>
                </a:solidFill>
                <a:latin typeface="Calibri" pitchFamily="34" charset="0"/>
                <a:ea typeface="Calibri" pitchFamily="34" charset="-122"/>
                <a:cs typeface="Calibri" pitchFamily="34" charset="-120"/>
              </a:rPr>
              <a:t>STATE 3</a:t>
            </a:r>
            <a:endParaRPr lang="en-US" sz="1400" dirty="0"/>
          </a:p>
          <a:p>
            <a:pPr algn="ctr" indent="0" marL="0">
              <a:buNone/>
            </a:pPr>
            <a:r>
              <a:rPr lang="en-US" sz="1400" b="1" dirty="0">
                <a:solidFill>
                  <a:srgbClr val="F59E0B"/>
                </a:solidFill>
                <a:latin typeface="Calibri" pitchFamily="34" charset="0"/>
                <a:ea typeface="Calibri" pitchFamily="34" charset="-122"/>
                <a:cs typeface="Calibri" pitchFamily="34" charset="-120"/>
              </a:rPr>
              <a:t>Dead-End Detection</a:t>
            </a:r>
            <a:endParaRPr lang="en-US" sz="1400" dirty="0"/>
          </a:p>
        </p:txBody>
      </p:sp>
      <p:sp>
        <p:nvSpPr>
          <p:cNvPr id="13" name="Text 11"/>
          <p:cNvSpPr/>
          <p:nvPr/>
        </p:nvSpPr>
        <p:spPr>
          <a:xfrm>
            <a:off x="6373368" y="2514600"/>
            <a:ext cx="2194560" cy="347472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Advance to Cell (0, 3)</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Try 1..9 -&gt; All fail constraints!</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No consistent value exists in domain.</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Dead-end encountered in search tree.</a:t>
            </a:r>
            <a:endParaRPr lang="en-US" sz="1250" dirty="0"/>
          </a:p>
        </p:txBody>
      </p:sp>
      <p:sp>
        <p:nvSpPr>
          <p:cNvPr id="14" name="Shape 12"/>
          <p:cNvSpPr/>
          <p:nvPr/>
        </p:nvSpPr>
        <p:spPr>
          <a:xfrm>
            <a:off x="8988552" y="1508760"/>
            <a:ext cx="2468880" cy="4754880"/>
          </a:xfrm>
          <a:prstGeom prst="roundRect">
            <a:avLst>
              <a:gd name="adj" fmla="val 2963"/>
            </a:avLst>
          </a:prstGeom>
          <a:solidFill>
            <a:srgbClr val="1E293B"/>
          </a:solidFill>
          <a:ln w="19050">
            <a:solidFill>
              <a:srgbClr val="10B981"/>
            </a:solidFill>
            <a:prstDash val="solid"/>
          </a:ln>
        </p:spPr>
      </p:sp>
      <p:sp>
        <p:nvSpPr>
          <p:cNvPr id="15" name="Text 13"/>
          <p:cNvSpPr/>
          <p:nvPr/>
        </p:nvSpPr>
        <p:spPr>
          <a:xfrm>
            <a:off x="9079992" y="1737360"/>
            <a:ext cx="2286000" cy="548640"/>
          </a:xfrm>
          <a:prstGeom prst="rect">
            <a:avLst/>
          </a:prstGeom>
          <a:noFill/>
          <a:ln/>
        </p:spPr>
        <p:txBody>
          <a:bodyPr wrap="square"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STATE 4</a:t>
            </a:r>
            <a:endParaRPr lang="en-US" sz="1400" dirty="0"/>
          </a:p>
          <a:p>
            <a:pPr algn="ctr" indent="0" marL="0">
              <a:buNone/>
            </a:pPr>
            <a:r>
              <a:rPr lang="en-US" sz="1400" b="1" dirty="0">
                <a:solidFill>
                  <a:srgbClr val="10B981"/>
                </a:solidFill>
                <a:latin typeface="Calibri" pitchFamily="34" charset="0"/>
                <a:ea typeface="Calibri" pitchFamily="34" charset="-122"/>
                <a:cs typeface="Calibri" pitchFamily="34" charset="-120"/>
              </a:rPr>
              <a:t>Backtracking Recovery</a:t>
            </a:r>
            <a:endParaRPr lang="en-US" sz="1400" dirty="0"/>
          </a:p>
        </p:txBody>
      </p:sp>
      <p:sp>
        <p:nvSpPr>
          <p:cNvPr id="16" name="Text 14"/>
          <p:cNvSpPr/>
          <p:nvPr/>
        </p:nvSpPr>
        <p:spPr>
          <a:xfrm>
            <a:off x="9125712" y="2514600"/>
            <a:ext cx="2194560" cy="347472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Unwind recursion stack:</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Reset (0, 2) = 0</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Try next candidate (e.g. 7)</a:t>
            </a:r>
            <a:endParaRPr lang="en-US" sz="1250" dirty="0"/>
          </a:p>
          <a:p>
            <a:pPr indent="0" marL="0">
              <a:buNone/>
            </a:pP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Search continues until all 81 variables satisfy all constraints.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OPTIMIZATION &amp; HEURISTICS</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Enhancing CSP: Variable &amp; Value Ordering</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5212080" cy="2240280"/>
          </a:xfrm>
          <a:prstGeom prst="roundRect">
            <a:avLst>
              <a:gd name="adj" fmla="val 4082"/>
            </a:avLst>
          </a:prstGeom>
          <a:solidFill>
            <a:srgbClr val="1E293B"/>
          </a:solidFill>
          <a:ln w="12700">
            <a:solidFill>
              <a:srgbClr val="334155"/>
            </a:solidFill>
            <a:prstDash val="solid"/>
          </a:ln>
        </p:spPr>
      </p:sp>
      <p:sp>
        <p:nvSpPr>
          <p:cNvPr id="6" name="Text 4"/>
          <p:cNvSpPr/>
          <p:nvPr/>
        </p:nvSpPr>
        <p:spPr>
          <a:xfrm>
            <a:off x="960120" y="1645920"/>
            <a:ext cx="4754880" cy="320040"/>
          </a:xfrm>
          <a:prstGeom prst="rect">
            <a:avLst/>
          </a:prstGeom>
          <a:noFill/>
          <a:ln/>
        </p:spPr>
        <p:txBody>
          <a:bodyPr wrap="square"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MRV (Minimum Remaining Values)</a:t>
            </a:r>
            <a:endParaRPr lang="en-US" sz="1500" dirty="0"/>
          </a:p>
        </p:txBody>
      </p:sp>
      <p:sp>
        <p:nvSpPr>
          <p:cNvPr id="7" name="Text 5"/>
          <p:cNvSpPr/>
          <p:nvPr/>
        </p:nvSpPr>
        <p:spPr>
          <a:xfrm>
            <a:off x="960120" y="2011680"/>
            <a:ext cx="4754880" cy="155448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 Concept: Choose the variable with fewest legal values left in its domain.</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 Also known as: Most Constrained Variable or 'Fail-First' heuristic.</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 Benefit: Maximizes chances of detecting failure early, pruning high up.</a:t>
            </a:r>
            <a:endParaRPr lang="en-US" sz="1250" dirty="0"/>
          </a:p>
        </p:txBody>
      </p:sp>
      <p:sp>
        <p:nvSpPr>
          <p:cNvPr id="8" name="Shape 6"/>
          <p:cNvSpPr/>
          <p:nvPr/>
        </p:nvSpPr>
        <p:spPr>
          <a:xfrm>
            <a:off x="6245352" y="1508760"/>
            <a:ext cx="5212080" cy="2240280"/>
          </a:xfrm>
          <a:prstGeom prst="roundRect">
            <a:avLst>
              <a:gd name="adj" fmla="val 4082"/>
            </a:avLst>
          </a:prstGeom>
          <a:solidFill>
            <a:srgbClr val="1E293B"/>
          </a:solidFill>
          <a:ln w="12700">
            <a:solidFill>
              <a:srgbClr val="334155"/>
            </a:solidFill>
            <a:prstDash val="solid"/>
          </a:ln>
        </p:spPr>
      </p:sp>
      <p:sp>
        <p:nvSpPr>
          <p:cNvPr id="9" name="Text 7"/>
          <p:cNvSpPr/>
          <p:nvPr/>
        </p:nvSpPr>
        <p:spPr>
          <a:xfrm>
            <a:off x="6473952" y="1645920"/>
            <a:ext cx="4754880" cy="320040"/>
          </a:xfrm>
          <a:prstGeom prst="rect">
            <a:avLst/>
          </a:prstGeom>
          <a:noFill/>
          <a:ln/>
        </p:spPr>
        <p:txBody>
          <a:bodyPr wrap="square" rtlCol="0" anchor="ctr"/>
          <a:lstStyle/>
          <a:p>
            <a:pPr indent="0" marL="0">
              <a:buNone/>
            </a:pPr>
            <a:r>
              <a:rPr lang="en-US" sz="1500" b="1" dirty="0">
                <a:solidFill>
                  <a:srgbClr val="6366F1"/>
                </a:solidFill>
                <a:latin typeface="Calibri" pitchFamily="34" charset="0"/>
                <a:ea typeface="Calibri" pitchFamily="34" charset="-122"/>
                <a:cs typeface="Calibri" pitchFamily="34" charset="-120"/>
              </a:rPr>
              <a:t>Degree Heuristic (Tie-Breaker)</a:t>
            </a:r>
            <a:endParaRPr lang="en-US" sz="1500" dirty="0"/>
          </a:p>
        </p:txBody>
      </p:sp>
      <p:sp>
        <p:nvSpPr>
          <p:cNvPr id="10" name="Text 8"/>
          <p:cNvSpPr/>
          <p:nvPr/>
        </p:nvSpPr>
        <p:spPr>
          <a:xfrm>
            <a:off x="6473952" y="2011680"/>
            <a:ext cx="4754880" cy="155448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 Concept: Select variable involved in most constraints on unassigned variables.</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 Application: Used as tie-breaker when multiple cells share the same MRV count.</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 Benefit: Imposes constraints on the largest number of remaining variables.</a:t>
            </a:r>
            <a:endParaRPr lang="en-US" sz="1250" dirty="0"/>
          </a:p>
        </p:txBody>
      </p:sp>
      <p:sp>
        <p:nvSpPr>
          <p:cNvPr id="11" name="Shape 9"/>
          <p:cNvSpPr/>
          <p:nvPr/>
        </p:nvSpPr>
        <p:spPr>
          <a:xfrm>
            <a:off x="731520" y="4023360"/>
            <a:ext cx="5212080" cy="2240280"/>
          </a:xfrm>
          <a:prstGeom prst="roundRect">
            <a:avLst>
              <a:gd name="adj" fmla="val 4082"/>
            </a:avLst>
          </a:prstGeom>
          <a:solidFill>
            <a:srgbClr val="1E293B"/>
          </a:solidFill>
          <a:ln w="12700">
            <a:solidFill>
              <a:srgbClr val="334155"/>
            </a:solidFill>
            <a:prstDash val="solid"/>
          </a:ln>
        </p:spPr>
      </p:sp>
      <p:sp>
        <p:nvSpPr>
          <p:cNvPr id="12" name="Text 10"/>
          <p:cNvSpPr/>
          <p:nvPr/>
        </p:nvSpPr>
        <p:spPr>
          <a:xfrm>
            <a:off x="960120" y="4160520"/>
            <a:ext cx="4754880" cy="320040"/>
          </a:xfrm>
          <a:prstGeom prst="rect">
            <a:avLst/>
          </a:prstGeom>
          <a:noFill/>
          <a:ln/>
        </p:spPr>
        <p:txBody>
          <a:bodyPr wrap="square"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LCV (Least Constraining Value)</a:t>
            </a:r>
            <a:endParaRPr lang="en-US" sz="1500" dirty="0"/>
          </a:p>
        </p:txBody>
      </p:sp>
      <p:sp>
        <p:nvSpPr>
          <p:cNvPr id="13" name="Text 11"/>
          <p:cNvSpPr/>
          <p:nvPr/>
        </p:nvSpPr>
        <p:spPr>
          <a:xfrm>
            <a:off x="960120" y="4526280"/>
            <a:ext cx="4754880" cy="155448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 Concept: Choose the value that rules out fewest choices for neighbors.</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 Principle: 'Fail-Last' heuristic; leaves maximum flexibility for subsequent steps.</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 Benefit: Increases probability of reaching a valid solution on the first try.</a:t>
            </a:r>
            <a:endParaRPr lang="en-US" sz="1250" dirty="0"/>
          </a:p>
        </p:txBody>
      </p:sp>
      <p:sp>
        <p:nvSpPr>
          <p:cNvPr id="14" name="Shape 12"/>
          <p:cNvSpPr/>
          <p:nvPr/>
        </p:nvSpPr>
        <p:spPr>
          <a:xfrm>
            <a:off x="6245352" y="4023360"/>
            <a:ext cx="5212080" cy="2240280"/>
          </a:xfrm>
          <a:prstGeom prst="roundRect">
            <a:avLst>
              <a:gd name="adj" fmla="val 4082"/>
            </a:avLst>
          </a:prstGeom>
          <a:solidFill>
            <a:srgbClr val="1E293B"/>
          </a:solidFill>
          <a:ln w="12700">
            <a:solidFill>
              <a:srgbClr val="334155"/>
            </a:solidFill>
            <a:prstDash val="solid"/>
          </a:ln>
        </p:spPr>
      </p:sp>
      <p:sp>
        <p:nvSpPr>
          <p:cNvPr id="15" name="Text 13"/>
          <p:cNvSpPr/>
          <p:nvPr/>
        </p:nvSpPr>
        <p:spPr>
          <a:xfrm>
            <a:off x="6473952" y="4160520"/>
            <a:ext cx="4754880" cy="320040"/>
          </a:xfrm>
          <a:prstGeom prst="rect">
            <a:avLst/>
          </a:prstGeom>
          <a:noFill/>
          <a:ln/>
        </p:spPr>
        <p:txBody>
          <a:bodyPr wrap="square"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Forward Checking &amp; AC-3 (Arc Consistency)</a:t>
            </a:r>
            <a:endParaRPr lang="en-US" sz="1500" dirty="0"/>
          </a:p>
        </p:txBody>
      </p:sp>
      <p:sp>
        <p:nvSpPr>
          <p:cNvPr id="16" name="Text 14"/>
          <p:cNvSpPr/>
          <p:nvPr/>
        </p:nvSpPr>
        <p:spPr>
          <a:xfrm>
            <a:off x="6473952" y="4526280"/>
            <a:ext cx="4754880" cy="155448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 Forward Checking: Tracks neighbor domains, pruning invalid values immediately.</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 AC-3 Algorithm: Enforces pairwise consistency across all 810 arcs in the network.</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 Result: Solves many easy/medium puzzles via propagation alone with 0 backtracking.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Interactive Web Application (React + Vite)</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5212080" cy="4754880"/>
          </a:xfrm>
          <a:prstGeom prst="roundRect">
            <a:avLst>
              <a:gd name="adj" fmla="val 1923"/>
            </a:avLst>
          </a:prstGeom>
          <a:solidFill>
            <a:srgbClr val="1E293B"/>
          </a:solidFill>
          <a:ln w="12700">
            <a:solidFill>
              <a:srgbClr val="334155"/>
            </a:solidFill>
            <a:prstDash val="solid"/>
          </a:ln>
        </p:spPr>
      </p:sp>
      <p:sp>
        <p:nvSpPr>
          <p:cNvPr id="6" name="Text 4"/>
          <p:cNvSpPr/>
          <p:nvPr/>
        </p:nvSpPr>
        <p:spPr>
          <a:xfrm>
            <a:off x="1005840" y="1737360"/>
            <a:ext cx="4663440" cy="365760"/>
          </a:xfrm>
          <a:prstGeom prst="rect">
            <a:avLst/>
          </a:prstGeom>
          <a:noFill/>
          <a:ln/>
        </p:spPr>
        <p:txBody>
          <a:bodyPr wrap="square"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Interactive Frontend Features</a:t>
            </a:r>
            <a:endParaRPr lang="en-US" sz="1600" dirty="0"/>
          </a:p>
        </p:txBody>
      </p:sp>
      <p:sp>
        <p:nvSpPr>
          <p:cNvPr id="7" name="Text 5"/>
          <p:cNvSpPr/>
          <p:nvPr/>
        </p:nvSpPr>
        <p:spPr>
          <a:xfrm>
            <a:off x="1005840" y="2240280"/>
            <a:ext cx="4663440" cy="3749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Dynamic Board Rendering: </a:t>
            </a:r>
            <a:pPr indent="0" marL="0">
              <a:buNone/>
            </a:pPr>
            <a:r>
              <a:rPr lang="en-US" sz="1300" dirty="0">
                <a:solidFill>
                  <a:srgbClr val="94A3B8"/>
                </a:solidFill>
                <a:latin typeface="Calibri" pitchFamily="34" charset="0"/>
                <a:ea typeface="Calibri" pitchFamily="34" charset="-122"/>
                <a:cs typeface="Calibri" pitchFamily="34" charset="-120"/>
              </a:rPr>
              <a:t>Responsive 9x9 grid with distinct visual borders for each 3x3 block.
</a:t>
            </a:r>
            <a:pPr indent="0" marL="0">
              <a:buNone/>
            </a:pPr>
            <a:r>
              <a:rPr lang="en-US" sz="1300" b="1" dirty="0">
                <a:solidFill>
                  <a:srgbClr val="FFFFFF"/>
                </a:solidFill>
                <a:latin typeface="Calibri" pitchFamily="34" charset="0"/>
                <a:ea typeface="Calibri" pitchFamily="34" charset="-122"/>
                <a:cs typeface="Calibri" pitchFamily="34" charset="-120"/>
              </a:rPr>
              <a:t>• Real-Time Conflict Highlighting: </a:t>
            </a:r>
            <a:pPr indent="0" marL="0">
              <a:buNone/>
            </a:pPr>
            <a:r>
              <a:rPr lang="en-US" sz="1300" dirty="0">
                <a:solidFill>
                  <a:srgbClr val="94A3B8"/>
                </a:solidFill>
                <a:latin typeface="Calibri" pitchFamily="34" charset="0"/>
                <a:ea typeface="Calibri" pitchFamily="34" charset="-122"/>
                <a:cs typeface="Calibri" pitchFamily="34" charset="-120"/>
              </a:rPr>
              <a:t>Calls findConflicts() on every input, instantly highlighting duplicates in rows, columns, or boxes in red.
</a:t>
            </a:r>
            <a:pPr indent="0" marL="0">
              <a:buNone/>
            </a:pPr>
            <a:r>
              <a:rPr lang="en-US" sz="1300" b="1" dirty="0">
                <a:solidFill>
                  <a:srgbClr val="FFFFFF"/>
                </a:solidFill>
                <a:latin typeface="Calibri" pitchFamily="34" charset="0"/>
                <a:ea typeface="Calibri" pitchFamily="34" charset="-122"/>
                <a:cs typeface="Calibri" pitchFamily="34" charset="-120"/>
              </a:rPr>
              <a:t>• Multi-Mode Operation: </a:t>
            </a:r>
            <a:pPr indent="0" marL="0">
              <a:buNone/>
            </a:pPr>
            <a:r>
              <a:rPr lang="en-US" sz="1300" dirty="0">
                <a:solidFill>
                  <a:srgbClr val="94A3B8"/>
                </a:solidFill>
                <a:latin typeface="Calibri" pitchFamily="34" charset="0"/>
                <a:ea typeface="Calibri" pitchFamily="34" charset="-122"/>
                <a:cs typeface="Calibri" pitchFamily="34" charset="-120"/>
              </a:rPr>
              <a:t>Play mode (manual input), Check mode (verifies user), and Auto-Solve (runs CSP engine).
</a:t>
            </a:r>
            <a:pPr indent="0" marL="0">
              <a:buNone/>
            </a:pPr>
            <a:r>
              <a:rPr lang="en-US" sz="1300" b="1" dirty="0">
                <a:solidFill>
                  <a:srgbClr val="FFFFFF"/>
                </a:solidFill>
                <a:latin typeface="Calibri" pitchFamily="34" charset="0"/>
                <a:ea typeface="Calibri" pitchFamily="34" charset="-122"/>
                <a:cs typeface="Calibri" pitchFamily="34" charset="-120"/>
              </a:rPr>
              <a:t>• Dark / Light Themes: </a:t>
            </a:r>
            <a:pPr indent="0" marL="0">
              <a:buNone/>
            </a:pPr>
            <a:r>
              <a:rPr lang="en-US" sz="1300" dirty="0">
                <a:solidFill>
                  <a:srgbClr val="94A3B8"/>
                </a:solidFill>
                <a:latin typeface="Calibri" pitchFamily="34" charset="0"/>
                <a:ea typeface="Calibri" pitchFamily="34" charset="-122"/>
                <a:cs typeface="Calibri" pitchFamily="34" charset="-120"/>
              </a:rPr>
              <a:t>Tailwind CSS styling with full theme toggle support.</a:t>
            </a:r>
            <a:endParaRPr lang="en-US" sz="1300" dirty="0"/>
          </a:p>
        </p:txBody>
      </p:sp>
      <p:sp>
        <p:nvSpPr>
          <p:cNvPr id="8" name="Shape 6"/>
          <p:cNvSpPr/>
          <p:nvPr/>
        </p:nvSpPr>
        <p:spPr>
          <a:xfrm>
            <a:off x="6245352" y="1508760"/>
            <a:ext cx="5212080" cy="4754880"/>
          </a:xfrm>
          <a:prstGeom prst="roundRect">
            <a:avLst>
              <a:gd name="adj" fmla="val 1923"/>
            </a:avLst>
          </a:prstGeom>
          <a:solidFill>
            <a:srgbClr val="1E293B"/>
          </a:solidFill>
          <a:ln w="12700">
            <a:solidFill>
              <a:srgbClr val="334155"/>
            </a:solidFill>
            <a:prstDash val="solid"/>
          </a:ln>
        </p:spPr>
      </p:sp>
      <p:sp>
        <p:nvSpPr>
          <p:cNvPr id="9" name="Text 7"/>
          <p:cNvSpPr/>
          <p:nvPr/>
        </p:nvSpPr>
        <p:spPr>
          <a:xfrm>
            <a:off x="6519672" y="1737360"/>
            <a:ext cx="4663440" cy="365760"/>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Tech Stack &amp; Modularity</a:t>
            </a:r>
            <a:endParaRPr lang="en-US" sz="1600" dirty="0"/>
          </a:p>
        </p:txBody>
      </p:sp>
      <p:sp>
        <p:nvSpPr>
          <p:cNvPr id="10" name="Text 8"/>
          <p:cNvSpPr/>
          <p:nvPr/>
        </p:nvSpPr>
        <p:spPr>
          <a:xfrm>
            <a:off x="6519672" y="2240280"/>
            <a:ext cx="4663440" cy="3749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React 19: </a:t>
            </a:r>
            <a:pPr indent="0" marL="0">
              <a:buNone/>
            </a:pPr>
            <a:r>
              <a:rPr lang="en-US" sz="1300" dirty="0">
                <a:solidFill>
                  <a:srgbClr val="94A3B8"/>
                </a:solidFill>
                <a:latin typeface="Calibri" pitchFamily="34" charset="0"/>
                <a:ea typeface="Calibri" pitchFamily="34" charset="-122"/>
                <a:cs typeface="Calibri" pitchFamily="34" charset="-120"/>
              </a:rPr>
              <a:t>Component-driven UI with state hooks (useState, useEffect) for reactive board updates.
</a:t>
            </a:r>
            <a:pPr indent="0" marL="0">
              <a:buNone/>
            </a:pPr>
            <a:r>
              <a:rPr lang="en-US" sz="1300" b="1" dirty="0">
                <a:solidFill>
                  <a:srgbClr val="FFFFFF"/>
                </a:solidFill>
                <a:latin typeface="Calibri" pitchFamily="34" charset="0"/>
                <a:ea typeface="Calibri" pitchFamily="34" charset="-122"/>
                <a:cs typeface="Calibri" pitchFamily="34" charset="-120"/>
              </a:rPr>
              <a:t>• Vite Dev Server: </a:t>
            </a:r>
            <a:pPr indent="0" marL="0">
              <a:buNone/>
            </a:pPr>
            <a:r>
              <a:rPr lang="en-US" sz="1300" dirty="0">
                <a:solidFill>
                  <a:srgbClr val="94A3B8"/>
                </a:solidFill>
                <a:latin typeface="Calibri" pitchFamily="34" charset="0"/>
                <a:ea typeface="Calibri" pitchFamily="34" charset="-122"/>
                <a:cs typeface="Calibri" pitchFamily="34" charset="-120"/>
              </a:rPr>
              <a:t>High-speed bundling and Instant Hot Module Replacement (HMR).
</a:t>
            </a:r>
            <a:pPr indent="0" marL="0">
              <a:buNone/>
            </a:pPr>
            <a:r>
              <a:rPr lang="en-US" sz="1300" b="1" dirty="0">
                <a:solidFill>
                  <a:srgbClr val="FFFFFF"/>
                </a:solidFill>
                <a:latin typeface="Calibri" pitchFamily="34" charset="0"/>
                <a:ea typeface="Calibri" pitchFamily="34" charset="-122"/>
                <a:cs typeface="Calibri" pitchFamily="34" charset="-120"/>
              </a:rPr>
              <a:t>• Tailwind CSS: </a:t>
            </a:r>
            <a:pPr indent="0" marL="0">
              <a:buNone/>
            </a:pPr>
            <a:r>
              <a:rPr lang="en-US" sz="1300" dirty="0">
                <a:solidFill>
                  <a:srgbClr val="94A3B8"/>
                </a:solidFill>
                <a:latin typeface="Calibri" pitchFamily="34" charset="0"/>
                <a:ea typeface="Calibri" pitchFamily="34" charset="-122"/>
                <a:cs typeface="Calibri" pitchFamily="34" charset="-120"/>
              </a:rPr>
              <a:t>Modern utility-first styling for crisp responsive layouts.
</a:t>
            </a:r>
            <a:pPr indent="0" marL="0">
              <a:buNone/>
            </a:pPr>
            <a:r>
              <a:rPr lang="en-US" sz="1300" b="1" dirty="0">
                <a:solidFill>
                  <a:srgbClr val="FFFFFF"/>
                </a:solidFill>
                <a:latin typeface="Calibri" pitchFamily="34" charset="0"/>
                <a:ea typeface="Calibri" pitchFamily="34" charset="-122"/>
                <a:cs typeface="Calibri" pitchFamily="34" charset="-120"/>
              </a:rPr>
              <a:t>• Decoupled Architecture: </a:t>
            </a:r>
            <a:pPr indent="0" marL="0">
              <a:buNone/>
            </a:pPr>
            <a:r>
              <a:rPr lang="en-US" sz="1300" dirty="0">
                <a:solidFill>
                  <a:srgbClr val="94A3B8"/>
                </a:solidFill>
                <a:latin typeface="Calibri" pitchFamily="34" charset="0"/>
                <a:ea typeface="Calibri" pitchFamily="34" charset="-122"/>
                <a:cs typeface="Calibri" pitchFamily="34" charset="-120"/>
              </a:rPr>
              <a:t>CSP algorithm logic (canPlace, solveSudoku) is purely functional and separated from UI rendering.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COMPLEXITY &amp; THEORY</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Computational Complexity &amp; NP-Completeness</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5212080" cy="4754880"/>
          </a:xfrm>
          <a:prstGeom prst="roundRect">
            <a:avLst>
              <a:gd name="adj" fmla="val 1923"/>
            </a:avLst>
          </a:prstGeom>
          <a:solidFill>
            <a:srgbClr val="1E293B"/>
          </a:solidFill>
          <a:ln w="12700">
            <a:solidFill>
              <a:srgbClr val="334155"/>
            </a:solidFill>
            <a:prstDash val="solid"/>
          </a:ln>
        </p:spPr>
      </p:sp>
      <p:sp>
        <p:nvSpPr>
          <p:cNvPr id="6" name="Text 4"/>
          <p:cNvSpPr/>
          <p:nvPr/>
        </p:nvSpPr>
        <p:spPr>
          <a:xfrm>
            <a:off x="1005840" y="1737360"/>
            <a:ext cx="4663440" cy="365760"/>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Complexity Bounds</a:t>
            </a:r>
            <a:endParaRPr lang="en-US" sz="1600" dirty="0"/>
          </a:p>
        </p:txBody>
      </p:sp>
      <p:sp>
        <p:nvSpPr>
          <p:cNvPr id="7" name="Text 5"/>
          <p:cNvSpPr/>
          <p:nvPr/>
        </p:nvSpPr>
        <p:spPr>
          <a:xfrm>
            <a:off x="1005840" y="2240280"/>
            <a:ext cx="4663440" cy="3749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Worst-Case Time Complexity: </a:t>
            </a:r>
            <a:pPr indent="0" marL="0">
              <a:buNone/>
            </a:pPr>
            <a:r>
              <a:rPr lang="en-US" sz="1300" dirty="0">
                <a:solidFill>
                  <a:srgbClr val="94A3B8"/>
                </a:solidFill>
                <a:latin typeface="Calibri" pitchFamily="34" charset="0"/>
                <a:ea typeface="Calibri" pitchFamily="34" charset="-122"/>
                <a:cs typeface="Calibri" pitchFamily="34" charset="-120"/>
              </a:rPr>
              <a:t>O(9^m), where m is the count of unassigned cells (m ≤ 81).
</a:t>
            </a:r>
            <a:pPr indent="0" marL="0">
              <a:buNone/>
            </a:pPr>
            <a:r>
              <a:rPr lang="en-US" sz="1300" b="1" dirty="0">
                <a:solidFill>
                  <a:srgbClr val="FFFFFF"/>
                </a:solidFill>
                <a:latin typeface="Calibri" pitchFamily="34" charset="0"/>
                <a:ea typeface="Calibri" pitchFamily="34" charset="-122"/>
                <a:cs typeface="Calibri" pitchFamily="34" charset="-120"/>
              </a:rPr>
              <a:t>• Practical Average-Case Time: </a:t>
            </a:r>
            <a:pPr indent="0" marL="0">
              <a:buNone/>
            </a:pPr>
            <a:r>
              <a:rPr lang="en-US" sz="1300" dirty="0">
                <a:solidFill>
                  <a:srgbClr val="94A3B8"/>
                </a:solidFill>
                <a:latin typeface="Calibri" pitchFamily="34" charset="0"/>
                <a:ea typeface="Calibri" pitchFamily="34" charset="-122"/>
                <a:cs typeface="Calibri" pitchFamily="34" charset="-120"/>
              </a:rPr>
              <a:t>Solved in under 5 milliseconds on modern CPUs due to domain constraint pruning.
</a:t>
            </a:r>
            <a:pPr indent="0" marL="0">
              <a:buNone/>
            </a:pPr>
            <a:r>
              <a:rPr lang="en-US" sz="1300" b="1" dirty="0">
                <a:solidFill>
                  <a:srgbClr val="FFFFFF"/>
                </a:solidFill>
                <a:latin typeface="Calibri" pitchFamily="34" charset="0"/>
                <a:ea typeface="Calibri" pitchFamily="34" charset="-122"/>
                <a:cs typeface="Calibri" pitchFamily="34" charset="-120"/>
              </a:rPr>
              <a:t>• Space Complexity: </a:t>
            </a:r>
            <a:pPr indent="0" marL="0">
              <a:buNone/>
            </a:pPr>
            <a:r>
              <a:rPr lang="en-US" sz="1300" dirty="0">
                <a:solidFill>
                  <a:srgbClr val="94A3B8"/>
                </a:solidFill>
                <a:latin typeface="Calibri" pitchFamily="34" charset="0"/>
                <a:ea typeface="Calibri" pitchFamily="34" charset="-122"/>
                <a:cs typeface="Calibri" pitchFamily="34" charset="-120"/>
              </a:rPr>
              <a:t>O(m) auxiliary call stack space, bounded by the maximum recursion depth of 81 cells.
</a:t>
            </a:r>
            <a:pPr indent="0" marL="0">
              <a:buNone/>
            </a:pPr>
            <a:r>
              <a:rPr lang="en-US" sz="1300" b="1" dirty="0">
                <a:solidFill>
                  <a:srgbClr val="FFFFFF"/>
                </a:solidFill>
                <a:latin typeface="Calibri" pitchFamily="34" charset="0"/>
                <a:ea typeface="Calibri" pitchFamily="34" charset="-122"/>
                <a:cs typeface="Calibri" pitchFamily="34" charset="-120"/>
              </a:rPr>
              <a:t>• Grid Storage: </a:t>
            </a:r>
            <a:pPr indent="0" marL="0">
              <a:buNone/>
            </a:pPr>
            <a:r>
              <a:rPr lang="en-US" sz="1300" dirty="0">
                <a:solidFill>
                  <a:srgbClr val="94A3B8"/>
                </a:solidFill>
                <a:latin typeface="Calibri" pitchFamily="34" charset="0"/>
                <a:ea typeface="Calibri" pitchFamily="34" charset="-122"/>
                <a:cs typeface="Calibri" pitchFamily="34" charset="-120"/>
              </a:rPr>
              <a:t>O(1) memory for the 9x9 matrix (81 integers).</a:t>
            </a:r>
            <a:endParaRPr lang="en-US" sz="1300" dirty="0"/>
          </a:p>
        </p:txBody>
      </p:sp>
      <p:sp>
        <p:nvSpPr>
          <p:cNvPr id="8" name="Shape 6"/>
          <p:cNvSpPr/>
          <p:nvPr/>
        </p:nvSpPr>
        <p:spPr>
          <a:xfrm>
            <a:off x="6245352" y="1508760"/>
            <a:ext cx="5212080" cy="4754880"/>
          </a:xfrm>
          <a:prstGeom prst="roundRect">
            <a:avLst>
              <a:gd name="adj" fmla="val 1923"/>
            </a:avLst>
          </a:prstGeom>
          <a:solidFill>
            <a:srgbClr val="1E293B"/>
          </a:solidFill>
          <a:ln w="12700">
            <a:solidFill>
              <a:srgbClr val="334155"/>
            </a:solidFill>
            <a:prstDash val="solid"/>
          </a:ln>
        </p:spPr>
      </p:sp>
      <p:sp>
        <p:nvSpPr>
          <p:cNvPr id="9" name="Text 7"/>
          <p:cNvSpPr/>
          <p:nvPr/>
        </p:nvSpPr>
        <p:spPr>
          <a:xfrm>
            <a:off x="6519672" y="1737360"/>
            <a:ext cx="4663440" cy="365760"/>
          </a:xfrm>
          <a:prstGeom prst="rect">
            <a:avLst/>
          </a:prstGeom>
          <a:noFill/>
          <a:ln/>
        </p:spPr>
        <p:txBody>
          <a:bodyPr wrap="square"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Generalized Sudoku is NP-Complete</a:t>
            </a:r>
            <a:endParaRPr lang="en-US" sz="1600" dirty="0"/>
          </a:p>
        </p:txBody>
      </p:sp>
      <p:sp>
        <p:nvSpPr>
          <p:cNvPr id="10" name="Text 8"/>
          <p:cNvSpPr/>
          <p:nvPr/>
        </p:nvSpPr>
        <p:spPr>
          <a:xfrm>
            <a:off x="6519672" y="2240280"/>
            <a:ext cx="4663440" cy="3749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Fixed 9x9 Grid: </a:t>
            </a:r>
            <a:pPr indent="0" marL="0">
              <a:buNone/>
            </a:pPr>
            <a:r>
              <a:rPr lang="en-US" sz="1300" dirty="0">
                <a:solidFill>
                  <a:srgbClr val="94A3B8"/>
                </a:solidFill>
                <a:latin typeface="Calibri" pitchFamily="34" charset="0"/>
                <a:ea typeface="Calibri" pitchFamily="34" charset="-122"/>
                <a:cs typeface="Calibri" pitchFamily="34" charset="-120"/>
              </a:rPr>
              <a:t>Formally decidable in O(1) constant time because the maximum search space is finite.
</a:t>
            </a:r>
            <a:pPr indent="0" marL="0">
              <a:buNone/>
            </a:pPr>
            <a:r>
              <a:rPr lang="en-US" sz="1300" b="1" dirty="0">
                <a:solidFill>
                  <a:srgbClr val="FFFFFF"/>
                </a:solidFill>
                <a:latin typeface="Calibri" pitchFamily="34" charset="0"/>
                <a:ea typeface="Calibri" pitchFamily="34" charset="-122"/>
                <a:cs typeface="Calibri" pitchFamily="34" charset="-120"/>
              </a:rPr>
              <a:t>• Generalized N^2 x N^2 Sudoku: </a:t>
            </a:r>
            <a:pPr indent="0" marL="0">
              <a:buNone/>
            </a:pPr>
            <a:r>
              <a:rPr lang="en-US" sz="1300" dirty="0">
                <a:solidFill>
                  <a:srgbClr val="94A3B8"/>
                </a:solidFill>
                <a:latin typeface="Calibri" pitchFamily="34" charset="0"/>
                <a:ea typeface="Calibri" pitchFamily="34" charset="-122"/>
                <a:cs typeface="Calibri" pitchFamily="34" charset="-120"/>
              </a:rPr>
              <a:t>Proven to be NP-Complete by reduction from the Exact Cover problem (Yato &amp; Seta, 2003).
</a:t>
            </a:r>
            <a:pPr indent="0" marL="0">
              <a:buNone/>
            </a:pPr>
            <a:r>
              <a:rPr lang="en-US" sz="1300" b="1" dirty="0">
                <a:solidFill>
                  <a:srgbClr val="FFFFFF"/>
                </a:solidFill>
                <a:latin typeface="Calibri" pitchFamily="34" charset="0"/>
                <a:ea typeface="Calibri" pitchFamily="34" charset="-122"/>
                <a:cs typeface="Calibri" pitchFamily="34" charset="-120"/>
              </a:rPr>
              <a:t>• Exact Cover Formulation: </a:t>
            </a:r>
            <a:pPr indent="0" marL="0">
              <a:buNone/>
            </a:pPr>
            <a:r>
              <a:rPr lang="en-US" sz="1300" dirty="0">
                <a:solidFill>
                  <a:srgbClr val="94A3B8"/>
                </a:solidFill>
                <a:latin typeface="Calibri" pitchFamily="34" charset="0"/>
                <a:ea typeface="Calibri" pitchFamily="34" charset="-122"/>
                <a:cs typeface="Calibri" pitchFamily="34" charset="-120"/>
              </a:rPr>
              <a:t>Each cell assignment corresponds to selecting a row in a 0-1 matrix where each constraint is met exactly once.
</a:t>
            </a:r>
            <a:pPr indent="0" marL="0">
              <a:buNone/>
            </a:pPr>
            <a:r>
              <a:rPr lang="en-US" sz="1300" b="1" dirty="0">
                <a:solidFill>
                  <a:srgbClr val="FFFFFF"/>
                </a:solidFill>
                <a:latin typeface="Calibri" pitchFamily="34" charset="0"/>
                <a:ea typeface="Calibri" pitchFamily="34" charset="-122"/>
                <a:cs typeface="Calibri" pitchFamily="34" charset="-120"/>
              </a:rPr>
              <a:t>• Algorithmic Connection: </a:t>
            </a:r>
            <a:pPr indent="0" marL="0">
              <a:buNone/>
            </a:pPr>
            <a:r>
              <a:rPr lang="en-US" sz="1300" dirty="0">
                <a:solidFill>
                  <a:srgbClr val="94A3B8"/>
                </a:solidFill>
                <a:latin typeface="Calibri" pitchFamily="34" charset="0"/>
                <a:ea typeface="Calibri" pitchFamily="34" charset="-122"/>
                <a:cs typeface="Calibri" pitchFamily="34" charset="-120"/>
              </a:rPr>
              <a:t>Can also be modeled with Knuth's Dancing Links (Algorithm X).</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11480"/>
            <a:ext cx="914400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CONCLUSION &amp; KEY TAKEAWAYS</a:t>
            </a:r>
            <a:endParaRPr lang="en-US" sz="1100" dirty="0"/>
          </a:p>
        </p:txBody>
      </p:sp>
      <p:sp>
        <p:nvSpPr>
          <p:cNvPr id="3" name="Text 1"/>
          <p:cNvSpPr/>
          <p:nvPr/>
        </p:nvSpPr>
        <p:spPr>
          <a:xfrm>
            <a:off x="731520" y="685800"/>
            <a:ext cx="1069848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 Summary &amp; Future Horizons</a:t>
            </a:r>
            <a:endParaRPr lang="en-US" sz="2200" dirty="0"/>
          </a:p>
        </p:txBody>
      </p:sp>
      <p:sp>
        <p:nvSpPr>
          <p:cNvPr id="4" name="Shape 2"/>
          <p:cNvSpPr/>
          <p:nvPr/>
        </p:nvSpPr>
        <p:spPr>
          <a:xfrm>
            <a:off x="731520" y="1298448"/>
            <a:ext cx="10725912" cy="18288"/>
          </a:xfrm>
          <a:prstGeom prst="rect">
            <a:avLst/>
          </a:prstGeom>
          <a:solidFill>
            <a:srgbClr val="334155"/>
          </a:solidFill>
          <a:ln w="12700">
            <a:solidFill>
              <a:srgbClr val="334155"/>
            </a:solidFill>
            <a:prstDash val="solid"/>
          </a:ln>
        </p:spPr>
      </p:sp>
      <p:sp>
        <p:nvSpPr>
          <p:cNvPr id="5" name="Shape 3"/>
          <p:cNvSpPr/>
          <p:nvPr/>
        </p:nvSpPr>
        <p:spPr>
          <a:xfrm>
            <a:off x="731520" y="1508760"/>
            <a:ext cx="10725912" cy="4754880"/>
          </a:xfrm>
          <a:prstGeom prst="roundRect">
            <a:avLst>
              <a:gd name="adj" fmla="val 1923"/>
            </a:avLst>
          </a:prstGeom>
          <a:solidFill>
            <a:srgbClr val="1E293B"/>
          </a:solidFill>
          <a:ln w="12700">
            <a:solidFill>
              <a:srgbClr val="334155"/>
            </a:solidFill>
            <a:prstDash val="solid"/>
          </a:ln>
        </p:spPr>
      </p:sp>
      <p:sp>
        <p:nvSpPr>
          <p:cNvPr id="6" name="Text 4"/>
          <p:cNvSpPr/>
          <p:nvPr/>
        </p:nvSpPr>
        <p:spPr>
          <a:xfrm>
            <a:off x="1005840" y="1783080"/>
            <a:ext cx="10177272" cy="365760"/>
          </a:xfrm>
          <a:prstGeom prst="rect">
            <a:avLst/>
          </a:prstGeom>
          <a:noFill/>
          <a:ln/>
        </p:spPr>
        <p:txBody>
          <a:bodyPr wrap="square" rtlCol="0" anchor="ctr"/>
          <a:lstStyle/>
          <a:p>
            <a:pPr indent="0" marL="0">
              <a:buNone/>
            </a:pPr>
            <a:r>
              <a:rPr lang="en-US" sz="1800" b="1" dirty="0">
                <a:solidFill>
                  <a:srgbClr val="38BDF8"/>
                </a:solidFill>
                <a:latin typeface="Calibri" pitchFamily="34" charset="0"/>
                <a:ea typeface="Calibri" pitchFamily="34" charset="-122"/>
                <a:cs typeface="Calibri" pitchFamily="34" charset="-120"/>
              </a:rPr>
              <a:t>Core Contributions &amp; Takeaways</a:t>
            </a:r>
            <a:endParaRPr lang="en-US" sz="1800" dirty="0"/>
          </a:p>
        </p:txBody>
      </p:sp>
      <p:sp>
        <p:nvSpPr>
          <p:cNvPr id="7" name="Text 5"/>
          <p:cNvSpPr/>
          <p:nvPr/>
        </p:nvSpPr>
        <p:spPr>
          <a:xfrm>
            <a:off x="1005840" y="2331720"/>
            <a:ext cx="10177272" cy="34747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 Rigorous AI Formulation: </a:t>
            </a:r>
            <a:pPr indent="0" marL="0">
              <a:buNone/>
            </a:pPr>
            <a:r>
              <a:rPr lang="en-US" sz="1400" dirty="0">
                <a:solidFill>
                  <a:srgbClr val="94A3B8"/>
                </a:solidFill>
                <a:latin typeface="Calibri" pitchFamily="34" charset="0"/>
                <a:ea typeface="Calibri" pitchFamily="34" charset="-122"/>
                <a:cs typeface="Calibri" pitchFamily="34" charset="-120"/>
              </a:rPr>
              <a:t>Successfully modeled the problem under the formal CSP triplet &lt;X, D, C&gt; with 81 variables and 810 binary constraints.
</a:t>
            </a:r>
            <a:pPr indent="0" marL="0">
              <a:buNone/>
            </a:pPr>
            <a:r>
              <a:rPr lang="en-US" sz="1400" b="1" dirty="0">
                <a:solidFill>
                  <a:srgbClr val="FFFFFF"/>
                </a:solidFill>
                <a:latin typeface="Calibri" pitchFamily="34" charset="0"/>
                <a:ea typeface="Calibri" pitchFamily="34" charset="-122"/>
                <a:cs typeface="Calibri" pitchFamily="34" charset="-120"/>
              </a:rPr>
              <a:t>2. Systematic Backtracking &amp; Pruning: </a:t>
            </a:r>
            <a:pPr indent="0" marL="0">
              <a:buNone/>
            </a:pPr>
            <a:r>
              <a:rPr lang="en-US" sz="1400" dirty="0">
                <a:solidFill>
                  <a:srgbClr val="94A3B8"/>
                </a:solidFill>
                <a:latin typeface="Calibri" pitchFamily="34" charset="0"/>
                <a:ea typeface="Calibri" pitchFamily="34" charset="-122"/>
                <a:cs typeface="Calibri" pitchFamily="34" charset="-120"/>
              </a:rPr>
              <a:t>Implemented depth-first backtracking search that prunes infeasible branches early, bypassing exponential brute-force.
</a:t>
            </a:r>
            <a:pPr indent="0" marL="0">
              <a:buNone/>
            </a:pPr>
            <a:r>
              <a:rPr lang="en-US" sz="1400" b="1" dirty="0">
                <a:solidFill>
                  <a:srgbClr val="FFFFFF"/>
                </a:solidFill>
                <a:latin typeface="Calibri" pitchFamily="34" charset="0"/>
                <a:ea typeface="Calibri" pitchFamily="34" charset="-122"/>
                <a:cs typeface="Calibri" pitchFamily="34" charset="-120"/>
              </a:rPr>
              <a:t>3. Interactive User Experience: </a:t>
            </a:r>
            <a:pPr indent="0" marL="0">
              <a:buNone/>
            </a:pPr>
            <a:r>
              <a:rPr lang="en-US" sz="1400" dirty="0">
                <a:solidFill>
                  <a:srgbClr val="94A3B8"/>
                </a:solidFill>
                <a:latin typeface="Calibri" pitchFamily="34" charset="0"/>
                <a:ea typeface="Calibri" pitchFamily="34" charset="-122"/>
                <a:cs typeface="Calibri" pitchFamily="34" charset="-120"/>
              </a:rPr>
              <a:t>Built a responsive React web app featuring real-time constraint conflict detection and visual feedback.
</a:t>
            </a:r>
            <a:pPr indent="0" marL="0">
              <a:buNone/>
            </a:pPr>
            <a:r>
              <a:rPr lang="en-US" sz="1400" b="1" dirty="0">
                <a:solidFill>
                  <a:srgbClr val="FFFFFF"/>
                </a:solidFill>
                <a:latin typeface="Calibri" pitchFamily="34" charset="0"/>
                <a:ea typeface="Calibri" pitchFamily="34" charset="-122"/>
                <a:cs typeface="Calibri" pitchFamily="34" charset="-120"/>
              </a:rPr>
              <a:t>4. Future Scope: </a:t>
            </a:r>
            <a:pPr indent="0" marL="0">
              <a:buNone/>
            </a:pPr>
            <a:r>
              <a:rPr lang="en-US" sz="1400" dirty="0">
                <a:solidFill>
                  <a:srgbClr val="94A3B8"/>
                </a:solidFill>
                <a:latin typeface="Calibri" pitchFamily="34" charset="0"/>
                <a:ea typeface="Calibri" pitchFamily="34" charset="-122"/>
                <a:cs typeface="Calibri" pitchFamily="34" charset="-120"/>
              </a:rPr>
              <a:t>Incorporate AC-3 domain pre-filtering, MRV heuristic ordering, and explore hybrid soft-computing approaches such as Genetic Algorithms for comparison.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Academic Project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Sudoku Solver - Constraint Satisfaction Problem</dc:title>
  <dc:subject>PptxGenJS Presentation</dc:subject>
  <dc:creator>Aastha Dhoundiyal &amp; Vedant Misra</dc:creator>
  <cp:lastModifiedBy>Aastha Dhoundiyal &amp; Vedant Misra</cp:lastModifiedBy>
  <cp:revision>1</cp:revision>
  <dcterms:created xsi:type="dcterms:W3CDTF">2026-10-29T03:47:47Z</dcterms:created>
  <dcterms:modified xsi:type="dcterms:W3CDTF">2026-10-29T03:47:47Z</dcterms:modified>
</cp:coreProperties>
</file>